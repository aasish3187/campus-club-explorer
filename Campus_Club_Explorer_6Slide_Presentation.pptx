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Sir and faculty members, this is my React training assessment project titled 'Campus Club Explorer'. It is a single-page web portal designed for college students to discover clubs, filter by domain, search by keywords, view meeting details, and manage club memberships.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on our campus students often miss club meetings because info is scattered. Campus Club Explorer centralizes all information. Architecturally, App.jsx manages state and passes data down to child components following React's unidirectional 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here are two major concepts: Props and Lists. Instead of writing 8 separate cards, we created one reusable ClubCard component. We map over the array using club.id as the key, which lets React re-render only the exact card that changes.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search and filter UI evaluates both the active category button and the search text simultaneously. When a student selects 'Coding' and types 'AI', it filters instantly without page reloads using clean array methods.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Sir, we demonstrated Conditional Rendering in multiple places: showing the modal only when selectedClub is not null, showing an empty state message if no clubs match, and closing the modal cleanly on background click.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implemented interactive membership tracking. When you join, it shows a popup message, updates member count, and marks the card with a JOINED badge. All test cases passed with zero build errors. Thank you, Sir!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822960"/>
          </a:xfrm>
          <a:prstGeom prst="rect">
            <a:avLst/>
          </a:prstGeom>
          <a:noFill/>
        </p:spPr>
        <p:txBody>
          <a:bodyPr wrap="none">
            <a:spAutoFit/>
          </a:bodyPr>
          <a:lstStyle/>
          <a:p>
            <a:pPr>
              <a:defRPr sz="3600" b="1">
                <a:solidFill>
                  <a:srgbClr val="FFFFFF"/>
                </a:solidFill>
                <a:latin typeface="Arial"/>
              </a:defRPr>
            </a:pPr>
            <a:r>
              <a:t>CAMPUS CLUB EXPLORER</a:t>
            </a:r>
          </a:p>
        </p:txBody>
      </p:sp>
      <p:sp>
        <p:nvSpPr>
          <p:cNvPr id="5" name="Rounded Rectangle 4"/>
          <p:cNvSpPr/>
          <p:nvPr/>
        </p:nvSpPr>
        <p:spPr>
          <a:xfrm>
            <a:off x="731520" y="1463040"/>
            <a:ext cx="530352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4572000"/>
          </a:xfrm>
          <a:prstGeom prst="rect">
            <a:avLst/>
          </a:prstGeom>
          <a:noFill/>
        </p:spPr>
        <p:txBody>
          <a:bodyPr wrap="square">
            <a:spAutoFit/>
          </a:bodyPr>
          <a:lstStyle/>
          <a:p>
            <a:pPr>
              <a:defRPr sz="2000" b="1">
                <a:solidFill>
                  <a:srgbClr val="1E3A8A"/>
                </a:solidFill>
              </a:defRPr>
            </a:pPr>
            <a:r>
              <a:t>React Web Application Project</a:t>
            </a:r>
          </a:p>
          <a:p>
            <a:pPr>
              <a:spcBef>
                <a:spcPts val="1000"/>
              </a:spcBef>
              <a:defRPr sz="1400">
                <a:solidFill>
                  <a:srgbClr val="0F172A"/>
                </a:solidFill>
              </a:defRPr>
            </a:pPr>
            <a:r>
              <a:t>A React-Based Web Application for College Club Discovery &amp; Management</a:t>
            </a:r>
          </a:p>
          <a:p>
            <a:pPr>
              <a:spcBef>
                <a:spcPts val="1600"/>
              </a:spcBef>
              <a:defRPr sz="1400" b="1">
                <a:solidFill>
                  <a:srgbClr val="1E3A8A"/>
                </a:solidFill>
              </a:defRPr>
            </a:pPr>
            <a:r>
              <a:t>Project Highlights &amp; Assessment Info:</a:t>
            </a:r>
          </a:p>
          <a:p>
            <a:pPr>
              <a:spcBef>
                <a:spcPts val="600"/>
              </a:spcBef>
              <a:defRPr sz="1200">
                <a:solidFill>
                  <a:srgbClr val="0F172A"/>
                </a:solidFill>
              </a:defRPr>
            </a:pPr>
            <a:r>
              <a:t>• Department of Computer Science &amp; Engineering</a:t>
            </a:r>
          </a:p>
          <a:p>
            <a:pPr>
              <a:spcBef>
                <a:spcPts val="600"/>
              </a:spcBef>
              <a:defRPr sz="1200">
                <a:solidFill>
                  <a:srgbClr val="0F172A"/>
                </a:solidFill>
              </a:defRPr>
            </a:pPr>
            <a:r>
              <a:t>• College Lab Training Assessment Project</a:t>
            </a:r>
          </a:p>
          <a:p>
            <a:pPr>
              <a:spcBef>
                <a:spcPts val="600"/>
              </a:spcBef>
              <a:defRPr sz="1200">
                <a:solidFill>
                  <a:srgbClr val="0F172A"/>
                </a:solidFill>
              </a:defRPr>
            </a:pPr>
            <a:r>
              <a:t>• Built with React 18, Vite &amp; Solid-Color CSS3</a:t>
            </a:r>
          </a:p>
          <a:p>
            <a:pPr>
              <a:spcBef>
                <a:spcPts val="600"/>
              </a:spcBef>
              <a:defRPr sz="1200">
                <a:solidFill>
                  <a:srgbClr val="0F172A"/>
                </a:solidFill>
              </a:defRPr>
            </a:pPr>
            <a:r>
              <a:t>• Features: Props • Lists &amp; Keys • Filters • Conditional Rendering</a:t>
            </a:r>
          </a:p>
        </p:txBody>
      </p:sp>
      <p:sp>
        <p:nvSpPr>
          <p:cNvPr id="7" name="Rounded Rectangle 6"/>
          <p:cNvSpPr/>
          <p:nvPr/>
        </p:nvSpPr>
        <p:spPr>
          <a:xfrm>
            <a:off x="6217920" y="1463040"/>
            <a:ext cx="5212080" cy="49377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img_home.png"/>
          <p:cNvPicPr>
            <a:picLocks noChangeAspect="1"/>
          </p:cNvPicPr>
          <p:nvPr/>
        </p:nvPicPr>
        <p:blipFill>
          <a:blip r:embed="rId3"/>
          <a:stretch>
            <a:fillRect/>
          </a:stretch>
        </p:blipFill>
        <p:spPr>
          <a:xfrm>
            <a:off x="6355080" y="1737360"/>
            <a:ext cx="4937760" cy="42976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0" y="274320"/>
            <a:ext cx="1097280" cy="457200"/>
          </a:xfrm>
          <a:prstGeom prst="rect">
            <a:avLst/>
          </a:prstGeom>
          <a:noFill/>
        </p:spPr>
        <p:txBody>
          <a:bodyPr wrap="none">
            <a:spAutoFit/>
          </a:bodyPr>
          <a:lstStyle/>
          <a:p>
            <a:pPr>
              <a:defRPr sz="1400" b="1">
                <a:solidFill>
                  <a:srgbClr val="BFDBFE"/>
                </a:solidFill>
              </a:defRPr>
            </a:pPr>
            <a:r>
              <a:t>Slide 2 / 6</a:t>
            </a:r>
          </a:p>
        </p:txBody>
      </p:sp>
      <p:sp>
        <p:nvSpPr>
          <p:cNvPr id="5" name="TextBox 4"/>
          <p:cNvSpPr txBox="1"/>
          <p:nvPr/>
        </p:nvSpPr>
        <p:spPr>
          <a:xfrm>
            <a:off x="731520" y="182880"/>
            <a:ext cx="9601200" cy="685800"/>
          </a:xfrm>
          <a:prstGeom prst="rect">
            <a:avLst/>
          </a:prstGeom>
          <a:noFill/>
        </p:spPr>
        <p:txBody>
          <a:bodyPr wrap="none">
            <a:spAutoFit/>
          </a:bodyPr>
          <a:lstStyle/>
          <a:p>
            <a:pPr>
              <a:defRPr sz="2400" b="1">
                <a:solidFill>
                  <a:srgbClr val="FFFFFF"/>
                </a:solidFill>
                <a:latin typeface="Arial"/>
              </a:defRPr>
            </a:pPr>
            <a:r>
              <a:t>Problem Statement &amp; Solution Architecture</a:t>
            </a:r>
          </a:p>
        </p:txBody>
      </p:sp>
      <p:sp>
        <p:nvSpPr>
          <p:cNvPr id="6" name="Rounded Rectangle 5"/>
          <p:cNvSpPr/>
          <p:nvPr/>
        </p:nvSpPr>
        <p:spPr>
          <a:xfrm>
            <a:off x="731520" y="1280160"/>
            <a:ext cx="585216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5486400" cy="4892040"/>
          </a:xfrm>
          <a:prstGeom prst="rect">
            <a:avLst/>
          </a:prstGeom>
          <a:noFill/>
        </p:spPr>
        <p:txBody>
          <a:bodyPr wrap="square">
            <a:spAutoFit/>
          </a:bodyPr>
          <a:lstStyle/>
          <a:p>
            <a:pPr>
              <a:defRPr sz="1350" b="1">
                <a:solidFill>
                  <a:srgbClr val="1E3A8A"/>
                </a:solidFill>
              </a:defRPr>
            </a:pPr>
            <a:r>
              <a:t>1. Campus Problem</a:t>
            </a:r>
          </a:p>
          <a:p>
            <a:pPr>
              <a:spcBef>
                <a:spcPts val="200"/>
              </a:spcBef>
              <a:defRPr sz="1150">
                <a:solidFill>
                  <a:srgbClr val="0F172A"/>
                </a:solidFill>
              </a:defRPr>
            </a:pPr>
            <a:r>
              <a:t>Club activities and meeting schedules are fragmented across noticeboards and chat groups, leading to low student awareness and participation.</a:t>
            </a:r>
          </a:p>
          <a:p>
            <a:pPr>
              <a:spcBef>
                <a:spcPts val="1000"/>
              </a:spcBef>
              <a:defRPr sz="1350" b="1">
                <a:solidFill>
                  <a:srgbClr val="1E3A8A"/>
                </a:solidFill>
              </a:defRPr>
            </a:pPr>
            <a:r>
              <a:t>2. Project Solution</a:t>
            </a:r>
          </a:p>
          <a:p>
            <a:pPr>
              <a:spcBef>
                <a:spcPts val="200"/>
              </a:spcBef>
              <a:defRPr sz="1150">
                <a:solidFill>
                  <a:srgbClr val="0F172A"/>
                </a:solidFill>
              </a:defRPr>
            </a:pPr>
            <a:r>
              <a:t>A centralized, interactive web application allowing students to browse clubs across Coding, Sports, Arts, and Entrepreneurship.</a:t>
            </a:r>
          </a:p>
          <a:p>
            <a:pPr>
              <a:spcBef>
                <a:spcPts val="1000"/>
              </a:spcBef>
              <a:defRPr sz="1350" b="1">
                <a:solidFill>
                  <a:srgbClr val="1E3A8A"/>
                </a:solidFill>
              </a:defRPr>
            </a:pPr>
            <a:r>
              <a:t>3. Technology Stack</a:t>
            </a:r>
          </a:p>
          <a:p>
            <a:pPr>
              <a:spcBef>
                <a:spcPts val="200"/>
              </a:spcBef>
              <a:defRPr sz="1150">
                <a:solidFill>
                  <a:srgbClr val="0F172A"/>
                </a:solidFill>
              </a:defRPr>
            </a:pPr>
            <a:r>
              <a:t>React 18 for component architecture, Vite for sub-second hot reloading, and solid-color CSS3 for clean aesthetics.</a:t>
            </a:r>
          </a:p>
          <a:p>
            <a:pPr>
              <a:spcBef>
                <a:spcPts val="1000"/>
              </a:spcBef>
              <a:defRPr sz="1350" b="1">
                <a:solidFill>
                  <a:srgbClr val="1E3A8A"/>
                </a:solidFill>
              </a:defRPr>
            </a:pPr>
            <a:r>
              <a:t>4. Unidirectional Architecture</a:t>
            </a:r>
          </a:p>
          <a:p>
            <a:pPr>
              <a:spcBef>
                <a:spcPts val="200"/>
              </a:spcBef>
              <a:defRPr sz="1150">
                <a:solidFill>
                  <a:srgbClr val="0F172A"/>
                </a:solidFill>
              </a:defRPr>
            </a:pPr>
            <a:r>
              <a:t>App.jsx serves as the central state hub, passing data down via props and receiving user events via callback functions.</a:t>
            </a:r>
          </a:p>
        </p:txBody>
      </p:sp>
      <p:sp>
        <p:nvSpPr>
          <p:cNvPr id="8" name="Rounded Rectangle 7"/>
          <p:cNvSpPr/>
          <p:nvPr/>
        </p:nvSpPr>
        <p:spPr>
          <a:xfrm>
            <a:off x="6766560" y="1280160"/>
            <a:ext cx="466344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img_card.png"/>
          <p:cNvPicPr>
            <a:picLocks noChangeAspect="1"/>
          </p:cNvPicPr>
          <p:nvPr/>
        </p:nvPicPr>
        <p:blipFill>
          <a:blip r:embed="rId3"/>
          <a:stretch>
            <a:fillRect/>
          </a:stretch>
        </p:blipFill>
        <p:spPr>
          <a:xfrm>
            <a:off x="6903720" y="1463040"/>
            <a:ext cx="4389120" cy="4251960"/>
          </a:xfrm>
          <a:prstGeom prst="rect">
            <a:avLst/>
          </a:prstGeom>
        </p:spPr>
      </p:pic>
      <p:sp>
        <p:nvSpPr>
          <p:cNvPr id="10" name="TextBox 9"/>
          <p:cNvSpPr txBox="1"/>
          <p:nvPr/>
        </p:nvSpPr>
        <p:spPr>
          <a:xfrm>
            <a:off x="6766560" y="5806440"/>
            <a:ext cx="4663440" cy="548640"/>
          </a:xfrm>
          <a:prstGeom prst="rect">
            <a:avLst/>
          </a:prstGeom>
          <a:noFill/>
        </p:spPr>
        <p:txBody>
          <a:bodyPr wrap="none">
            <a:spAutoFit/>
          </a:bodyPr>
          <a:lstStyle/>
          <a:p>
            <a:pPr algn="ctr">
              <a:defRPr sz="1050" b="1">
                <a:solidFill>
                  <a:srgbClr val="1E3A8A"/>
                </a:solidFill>
              </a:defRPr>
            </a:pPr>
            <a:r>
              <a:t>Live Dashboard with Category Filters &amp; Club Cards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0" y="274320"/>
            <a:ext cx="1097280" cy="457200"/>
          </a:xfrm>
          <a:prstGeom prst="rect">
            <a:avLst/>
          </a:prstGeom>
          <a:noFill/>
        </p:spPr>
        <p:txBody>
          <a:bodyPr wrap="none">
            <a:spAutoFit/>
          </a:bodyPr>
          <a:lstStyle/>
          <a:p>
            <a:pPr>
              <a:defRPr sz="1400" b="1">
                <a:solidFill>
                  <a:srgbClr val="BFDBFE"/>
                </a:solidFill>
              </a:defRPr>
            </a:pPr>
            <a:r>
              <a:t>Slide 3 / 6</a:t>
            </a:r>
          </a:p>
        </p:txBody>
      </p:sp>
      <p:sp>
        <p:nvSpPr>
          <p:cNvPr id="5" name="TextBox 4"/>
          <p:cNvSpPr txBox="1"/>
          <p:nvPr/>
        </p:nvSpPr>
        <p:spPr>
          <a:xfrm>
            <a:off x="731520" y="182880"/>
            <a:ext cx="9601200" cy="685800"/>
          </a:xfrm>
          <a:prstGeom prst="rect">
            <a:avLst/>
          </a:prstGeom>
          <a:noFill/>
        </p:spPr>
        <p:txBody>
          <a:bodyPr wrap="none">
            <a:spAutoFit/>
          </a:bodyPr>
          <a:lstStyle/>
          <a:p>
            <a:pPr>
              <a:defRPr sz="2400" b="1">
                <a:solidFill>
                  <a:srgbClr val="FFFFFF"/>
                </a:solidFill>
                <a:latin typeface="Arial"/>
              </a:defRPr>
            </a:pPr>
            <a:r>
              <a:t>React Concepts 1 &amp; 2: Props, Reuse, Lists &amp; Keys</a:t>
            </a:r>
          </a:p>
        </p:txBody>
      </p:sp>
      <p:sp>
        <p:nvSpPr>
          <p:cNvPr id="6" name="Rounded Rectangle 5"/>
          <p:cNvSpPr/>
          <p:nvPr/>
        </p:nvSpPr>
        <p:spPr>
          <a:xfrm>
            <a:off x="731520" y="1280160"/>
            <a:ext cx="585216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5486400" cy="4892040"/>
          </a:xfrm>
          <a:prstGeom prst="rect">
            <a:avLst/>
          </a:prstGeom>
          <a:noFill/>
        </p:spPr>
        <p:txBody>
          <a:bodyPr wrap="square">
            <a:spAutoFit/>
          </a:bodyPr>
          <a:lstStyle/>
          <a:p>
            <a:pPr>
              <a:defRPr sz="1350" b="1">
                <a:solidFill>
                  <a:srgbClr val="1E3A8A"/>
                </a:solidFill>
              </a:defRPr>
            </a:pPr>
            <a:r>
              <a:t>1. Props (Data Passing)</a:t>
            </a:r>
          </a:p>
          <a:p>
            <a:pPr>
              <a:spcBef>
                <a:spcPts val="200"/>
              </a:spcBef>
              <a:defRPr sz="1150">
                <a:solidFill>
                  <a:srgbClr val="0F172A"/>
                </a:solidFill>
              </a:defRPr>
            </a:pPr>
            <a:r>
              <a:t>Props are read-only inputs passed from App.jsx to ClubCard (club, isJoined, onViewDetails). This decouples UI from state.</a:t>
            </a:r>
          </a:p>
          <a:p>
            <a:pPr>
              <a:spcBef>
                <a:spcPts val="1000"/>
              </a:spcBef>
              <a:defRPr sz="1350" b="1">
                <a:solidFill>
                  <a:srgbClr val="1E3A8A"/>
                </a:solidFill>
              </a:defRPr>
            </a:pPr>
            <a:r>
              <a:t>2. Component Reuse</a:t>
            </a:r>
          </a:p>
          <a:p>
            <a:pPr>
              <a:spcBef>
                <a:spcPts val="200"/>
              </a:spcBef>
              <a:defRPr sz="1150">
                <a:solidFill>
                  <a:srgbClr val="0F172A"/>
                </a:solidFill>
              </a:defRPr>
            </a:pPr>
            <a:r>
              <a:t>The ClubCard component is authored once and dynamically reused across all 8 campus clubs with zero duplicate markup.</a:t>
            </a:r>
          </a:p>
          <a:p>
            <a:pPr>
              <a:spcBef>
                <a:spcPts val="1000"/>
              </a:spcBef>
              <a:defRPr sz="1350" b="1">
                <a:solidFill>
                  <a:srgbClr val="1E3A8A"/>
                </a:solidFill>
              </a:defRPr>
            </a:pPr>
            <a:r>
              <a:t>3. Lists Rendering (.map)</a:t>
            </a:r>
          </a:p>
          <a:p>
            <a:pPr>
              <a:spcBef>
                <a:spcPts val="200"/>
              </a:spcBef>
              <a:defRPr sz="1150">
                <a:solidFill>
                  <a:srgbClr val="0F172A"/>
                </a:solidFill>
              </a:defRPr>
            </a:pPr>
            <a:r>
              <a:t>JavaScript's .map() loops through the filtered clubs array and returns a &lt;ClubCard /&gt; for every matched item.</a:t>
            </a:r>
          </a:p>
          <a:p>
            <a:pPr>
              <a:spcBef>
                <a:spcPts val="1000"/>
              </a:spcBef>
              <a:defRPr sz="1350" b="1">
                <a:solidFill>
                  <a:srgbClr val="1E3A8A"/>
                </a:solidFill>
              </a:defRPr>
            </a:pPr>
            <a:r>
              <a:t>4. The Unique 'key' Prop</a:t>
            </a:r>
          </a:p>
          <a:p>
            <a:pPr>
              <a:spcBef>
                <a:spcPts val="200"/>
              </a:spcBef>
              <a:defRPr sz="1150">
                <a:solidFill>
                  <a:srgbClr val="0F172A"/>
                </a:solidFill>
              </a:defRPr>
            </a:pPr>
            <a:r>
              <a:t>Each item receives key={club.id}. This enables React's Virtual DOM reconciliation engine to track item updates efficiently.</a:t>
            </a:r>
          </a:p>
        </p:txBody>
      </p:sp>
      <p:sp>
        <p:nvSpPr>
          <p:cNvPr id="8" name="Rounded Rectangle 7"/>
          <p:cNvSpPr/>
          <p:nvPr/>
        </p:nvSpPr>
        <p:spPr>
          <a:xfrm>
            <a:off x="6766560" y="1280160"/>
            <a:ext cx="466344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img_card.png"/>
          <p:cNvPicPr>
            <a:picLocks noChangeAspect="1"/>
          </p:cNvPicPr>
          <p:nvPr/>
        </p:nvPicPr>
        <p:blipFill>
          <a:blip r:embed="rId3"/>
          <a:stretch>
            <a:fillRect/>
          </a:stretch>
        </p:blipFill>
        <p:spPr>
          <a:xfrm>
            <a:off x="6903720" y="1463040"/>
            <a:ext cx="4389120" cy="4251960"/>
          </a:xfrm>
          <a:prstGeom prst="rect">
            <a:avLst/>
          </a:prstGeom>
        </p:spPr>
      </p:pic>
      <p:sp>
        <p:nvSpPr>
          <p:cNvPr id="10" name="TextBox 9"/>
          <p:cNvSpPr txBox="1"/>
          <p:nvPr/>
        </p:nvSpPr>
        <p:spPr>
          <a:xfrm>
            <a:off x="6766560" y="5806440"/>
            <a:ext cx="4663440" cy="548640"/>
          </a:xfrm>
          <a:prstGeom prst="rect">
            <a:avLst/>
          </a:prstGeom>
          <a:noFill/>
        </p:spPr>
        <p:txBody>
          <a:bodyPr wrap="none">
            <a:spAutoFit/>
          </a:bodyPr>
          <a:lstStyle/>
          <a:p>
            <a:pPr algn="ctr">
              <a:defRPr sz="1050" b="1">
                <a:solidFill>
                  <a:srgbClr val="1E3A8A"/>
                </a:solidFill>
              </a:defRPr>
            </a:pPr>
            <a:r>
              <a:t>Component Reuse: 8 Clubs Rendered via .map() with unique keys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0" y="274320"/>
            <a:ext cx="1097280" cy="457200"/>
          </a:xfrm>
          <a:prstGeom prst="rect">
            <a:avLst/>
          </a:prstGeom>
          <a:noFill/>
        </p:spPr>
        <p:txBody>
          <a:bodyPr wrap="none">
            <a:spAutoFit/>
          </a:bodyPr>
          <a:lstStyle/>
          <a:p>
            <a:pPr>
              <a:defRPr sz="1400" b="1">
                <a:solidFill>
                  <a:srgbClr val="BFDBFE"/>
                </a:solidFill>
              </a:defRPr>
            </a:pPr>
            <a:r>
              <a:t>Slide 4 / 6</a:t>
            </a:r>
          </a:p>
        </p:txBody>
      </p:sp>
      <p:sp>
        <p:nvSpPr>
          <p:cNvPr id="5" name="TextBox 4"/>
          <p:cNvSpPr txBox="1"/>
          <p:nvPr/>
        </p:nvSpPr>
        <p:spPr>
          <a:xfrm>
            <a:off x="731520" y="182880"/>
            <a:ext cx="9601200" cy="685800"/>
          </a:xfrm>
          <a:prstGeom prst="rect">
            <a:avLst/>
          </a:prstGeom>
          <a:noFill/>
        </p:spPr>
        <p:txBody>
          <a:bodyPr wrap="none">
            <a:spAutoFit/>
          </a:bodyPr>
          <a:lstStyle/>
          <a:p>
            <a:pPr>
              <a:defRPr sz="2400" b="1">
                <a:solidFill>
                  <a:srgbClr val="FFFFFF"/>
                </a:solidFill>
                <a:latin typeface="Arial"/>
              </a:defRPr>
            </a:pPr>
            <a:r>
              <a:t>React Concept 3: Dynamic Search &amp; Category Filtering</a:t>
            </a:r>
          </a:p>
        </p:txBody>
      </p:sp>
      <p:sp>
        <p:nvSpPr>
          <p:cNvPr id="6" name="Rounded Rectangle 5"/>
          <p:cNvSpPr/>
          <p:nvPr/>
        </p:nvSpPr>
        <p:spPr>
          <a:xfrm>
            <a:off x="731520" y="1280160"/>
            <a:ext cx="585216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5486400" cy="4892040"/>
          </a:xfrm>
          <a:prstGeom prst="rect">
            <a:avLst/>
          </a:prstGeom>
          <a:noFill/>
        </p:spPr>
        <p:txBody>
          <a:bodyPr wrap="square">
            <a:spAutoFit/>
          </a:bodyPr>
          <a:lstStyle/>
          <a:p>
            <a:pPr>
              <a:defRPr sz="1350" b="1">
                <a:solidFill>
                  <a:srgbClr val="1E3A8A"/>
                </a:solidFill>
              </a:defRPr>
            </a:pPr>
            <a:r>
              <a:t>1. Controlled Form Inputs</a:t>
            </a:r>
          </a:p>
          <a:p>
            <a:pPr>
              <a:spcBef>
                <a:spcPts val="200"/>
              </a:spcBef>
              <a:defRPr sz="1150">
                <a:solidFill>
                  <a:srgbClr val="0F172A"/>
                </a:solidFill>
              </a:defRPr>
            </a:pPr>
            <a:r>
              <a:t>searchQuery and selectedCategory are maintained in React state using the useState hook.</a:t>
            </a:r>
          </a:p>
          <a:p>
            <a:pPr>
              <a:spcBef>
                <a:spcPts val="1000"/>
              </a:spcBef>
              <a:defRPr sz="1350" b="1">
                <a:solidFill>
                  <a:srgbClr val="1E3A8A"/>
                </a:solidFill>
              </a:defRPr>
            </a:pPr>
            <a:r>
              <a:t>2. Simultaneous Dual-Predicate Filter</a:t>
            </a:r>
          </a:p>
          <a:p>
            <a:pPr>
              <a:spcBef>
                <a:spcPts val="200"/>
              </a:spcBef>
              <a:defRPr sz="1150">
                <a:solidFill>
                  <a:srgbClr val="0F172A"/>
                </a:solidFill>
              </a:defRPr>
            </a:pPr>
            <a:r>
              <a:t>The filtering function evaluates category matching ('All' or exact) AND keyword matching (.includes()) together on every keystroke.</a:t>
            </a:r>
          </a:p>
          <a:p>
            <a:pPr>
              <a:spcBef>
                <a:spcPts val="1000"/>
              </a:spcBef>
              <a:defRPr sz="1350" b="1">
                <a:solidFill>
                  <a:srgbClr val="1E3A8A"/>
                </a:solidFill>
              </a:defRPr>
            </a:pPr>
            <a:r>
              <a:t>3. Zero Page Reloads</a:t>
            </a:r>
          </a:p>
          <a:p>
            <a:pPr>
              <a:spcBef>
                <a:spcPts val="200"/>
              </a:spcBef>
              <a:defRPr sz="1150">
                <a:solidFill>
                  <a:srgbClr val="0F172A"/>
                </a:solidFill>
              </a:defRPr>
            </a:pPr>
            <a:r>
              <a:t>Filtered results update reactively in real time without refreshing the browser.</a:t>
            </a:r>
          </a:p>
          <a:p>
            <a:pPr>
              <a:spcBef>
                <a:spcPts val="1000"/>
              </a:spcBef>
              <a:defRPr sz="1350" b="1">
                <a:solidFill>
                  <a:srgbClr val="1E3A8A"/>
                </a:solidFill>
              </a:defRPr>
            </a:pPr>
            <a:r>
              <a:t>4. User Ergonomics</a:t>
            </a:r>
          </a:p>
          <a:p>
            <a:pPr>
              <a:spcBef>
                <a:spcPts val="200"/>
              </a:spcBef>
              <a:defRPr sz="1150">
                <a:solidFill>
                  <a:srgbClr val="0F172A"/>
                </a:solidFill>
              </a:defRPr>
            </a:pPr>
            <a:r>
              <a:t>Includes an instant 'Clear' search button and active category pill buttons with visual state highlights.</a:t>
            </a:r>
          </a:p>
        </p:txBody>
      </p:sp>
      <p:sp>
        <p:nvSpPr>
          <p:cNvPr id="8" name="Rounded Rectangle 7"/>
          <p:cNvSpPr/>
          <p:nvPr/>
        </p:nvSpPr>
        <p:spPr>
          <a:xfrm>
            <a:off x="6766560" y="1280160"/>
            <a:ext cx="466344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img_home.png"/>
          <p:cNvPicPr>
            <a:picLocks noChangeAspect="1"/>
          </p:cNvPicPr>
          <p:nvPr/>
        </p:nvPicPr>
        <p:blipFill>
          <a:blip r:embed="rId3"/>
          <a:stretch>
            <a:fillRect/>
          </a:stretch>
        </p:blipFill>
        <p:spPr>
          <a:xfrm>
            <a:off x="6903720" y="1463040"/>
            <a:ext cx="4389120" cy="4251960"/>
          </a:xfrm>
          <a:prstGeom prst="rect">
            <a:avLst/>
          </a:prstGeom>
        </p:spPr>
      </p:pic>
      <p:sp>
        <p:nvSpPr>
          <p:cNvPr id="10" name="TextBox 9"/>
          <p:cNvSpPr txBox="1"/>
          <p:nvPr/>
        </p:nvSpPr>
        <p:spPr>
          <a:xfrm>
            <a:off x="6766560" y="5806440"/>
            <a:ext cx="4663440" cy="548640"/>
          </a:xfrm>
          <a:prstGeom prst="rect">
            <a:avLst/>
          </a:prstGeom>
          <a:noFill/>
        </p:spPr>
        <p:txBody>
          <a:bodyPr wrap="none">
            <a:spAutoFit/>
          </a:bodyPr>
          <a:lstStyle/>
          <a:p>
            <a:pPr algn="ctr">
              <a:defRPr sz="1050" b="1">
                <a:solidFill>
                  <a:srgbClr val="1E3A8A"/>
                </a:solidFill>
              </a:defRPr>
            </a:pPr>
            <a:r>
              <a:t>Search Bar &amp; Category Pills (Coding, Sports, Arts, E-Cell)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0" y="274320"/>
            <a:ext cx="1097280" cy="457200"/>
          </a:xfrm>
          <a:prstGeom prst="rect">
            <a:avLst/>
          </a:prstGeom>
          <a:noFill/>
        </p:spPr>
        <p:txBody>
          <a:bodyPr wrap="none">
            <a:spAutoFit/>
          </a:bodyPr>
          <a:lstStyle/>
          <a:p>
            <a:pPr>
              <a:defRPr sz="1400" b="1">
                <a:solidFill>
                  <a:srgbClr val="BFDBFE"/>
                </a:solidFill>
              </a:defRPr>
            </a:pPr>
            <a:r>
              <a:t>Slide 5 / 6</a:t>
            </a:r>
          </a:p>
        </p:txBody>
      </p:sp>
      <p:sp>
        <p:nvSpPr>
          <p:cNvPr id="5" name="TextBox 4"/>
          <p:cNvSpPr txBox="1"/>
          <p:nvPr/>
        </p:nvSpPr>
        <p:spPr>
          <a:xfrm>
            <a:off x="731520" y="182880"/>
            <a:ext cx="9601200" cy="685800"/>
          </a:xfrm>
          <a:prstGeom prst="rect">
            <a:avLst/>
          </a:prstGeom>
          <a:noFill/>
        </p:spPr>
        <p:txBody>
          <a:bodyPr wrap="none">
            <a:spAutoFit/>
          </a:bodyPr>
          <a:lstStyle/>
          <a:p>
            <a:pPr>
              <a:defRPr sz="2400" b="1">
                <a:solidFill>
                  <a:srgbClr val="FFFFFF"/>
                </a:solidFill>
                <a:latin typeface="Arial"/>
              </a:defRPr>
            </a:pPr>
            <a:r>
              <a:t>React Concept 4: Conditional Rendering &amp; Modal Dialog</a:t>
            </a:r>
          </a:p>
        </p:txBody>
      </p:sp>
      <p:sp>
        <p:nvSpPr>
          <p:cNvPr id="6" name="Rounded Rectangle 5"/>
          <p:cNvSpPr/>
          <p:nvPr/>
        </p:nvSpPr>
        <p:spPr>
          <a:xfrm>
            <a:off x="731520" y="1280160"/>
            <a:ext cx="585216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5486400" cy="4892040"/>
          </a:xfrm>
          <a:prstGeom prst="rect">
            <a:avLst/>
          </a:prstGeom>
          <a:noFill/>
        </p:spPr>
        <p:txBody>
          <a:bodyPr wrap="square">
            <a:spAutoFit/>
          </a:bodyPr>
          <a:lstStyle/>
          <a:p>
            <a:pPr>
              <a:defRPr sz="1350" b="1">
                <a:solidFill>
                  <a:srgbClr val="1E3A8A"/>
                </a:solidFill>
              </a:defRPr>
            </a:pPr>
            <a:r>
              <a:t>1. Short-Circuit Modal Rendering</a:t>
            </a:r>
          </a:p>
          <a:p>
            <a:pPr>
              <a:spcBef>
                <a:spcPts val="200"/>
              </a:spcBef>
              <a:defRPr sz="1150">
                <a:solidFill>
                  <a:srgbClr val="0F172A"/>
                </a:solidFill>
              </a:defRPr>
            </a:pPr>
            <a:r>
              <a:t>{selectedClub &amp;&amp; &lt;ClubModal ... /&gt;} ensures zero modal DOM overhead until a club is clicked.</a:t>
            </a:r>
          </a:p>
          <a:p>
            <a:pPr>
              <a:spcBef>
                <a:spcPts val="1000"/>
              </a:spcBef>
              <a:defRPr sz="1350" b="1">
                <a:solidFill>
                  <a:srgbClr val="1E3A8A"/>
                </a:solidFill>
              </a:defRPr>
            </a:pPr>
            <a:r>
              <a:t>2. Empty State Fallback</a:t>
            </a:r>
          </a:p>
          <a:p>
            <a:pPr>
              <a:spcBef>
                <a:spcPts val="200"/>
              </a:spcBef>
              <a:defRPr sz="1150">
                <a:solidFill>
                  <a:srgbClr val="0F172A"/>
                </a:solidFill>
              </a:defRPr>
            </a:pPr>
            <a:r>
              <a:t>Ternary operator renders the club grid when items exist, or a friendly 'No clubs found' box with a 'Reset Filters' button.</a:t>
            </a:r>
          </a:p>
          <a:p>
            <a:pPr>
              <a:spcBef>
                <a:spcPts val="1000"/>
              </a:spcBef>
              <a:defRPr sz="1350" b="1">
                <a:solidFill>
                  <a:srgbClr val="1E3A8A"/>
                </a:solidFill>
              </a:defRPr>
            </a:pPr>
            <a:r>
              <a:t>3. Comprehensive Club View</a:t>
            </a:r>
          </a:p>
          <a:p>
            <a:pPr>
              <a:spcBef>
                <a:spcPts val="200"/>
              </a:spcBef>
              <a:defRPr sz="1150">
                <a:solidFill>
                  <a:srgbClr val="0F172A"/>
                </a:solidFill>
              </a:defRPr>
            </a:pPr>
            <a:r>
              <a:t>Modal displays meeting schedule, faculty coordinator advisor, member count, and bulleted activities list.</a:t>
            </a:r>
          </a:p>
          <a:p>
            <a:pPr>
              <a:spcBef>
                <a:spcPts val="1000"/>
              </a:spcBef>
              <a:defRPr sz="1350" b="1">
                <a:solidFill>
                  <a:srgbClr val="1E3A8A"/>
                </a:solidFill>
              </a:defRPr>
            </a:pPr>
            <a:r>
              <a:t>4. Accessible Interaction</a:t>
            </a:r>
          </a:p>
          <a:p>
            <a:pPr>
              <a:spcBef>
                <a:spcPts val="200"/>
              </a:spcBef>
              <a:defRPr sz="1150">
                <a:solidFill>
                  <a:srgbClr val="0F172A"/>
                </a:solidFill>
              </a:defRPr>
            </a:pPr>
            <a:r>
              <a:t>Modal closes gracefully on clicking the 'Close' button, 'Done' button, or tapping the darkened background.</a:t>
            </a:r>
          </a:p>
        </p:txBody>
      </p:sp>
      <p:sp>
        <p:nvSpPr>
          <p:cNvPr id="8" name="Rounded Rectangle 7"/>
          <p:cNvSpPr/>
          <p:nvPr/>
        </p:nvSpPr>
        <p:spPr>
          <a:xfrm>
            <a:off x="6766560" y="1280160"/>
            <a:ext cx="466344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img_modal.png"/>
          <p:cNvPicPr>
            <a:picLocks noChangeAspect="1"/>
          </p:cNvPicPr>
          <p:nvPr/>
        </p:nvPicPr>
        <p:blipFill>
          <a:blip r:embed="rId3"/>
          <a:stretch>
            <a:fillRect/>
          </a:stretch>
        </p:blipFill>
        <p:spPr>
          <a:xfrm>
            <a:off x="6903720" y="1463040"/>
            <a:ext cx="4389120" cy="4251960"/>
          </a:xfrm>
          <a:prstGeom prst="rect">
            <a:avLst/>
          </a:prstGeom>
        </p:spPr>
      </p:pic>
      <p:sp>
        <p:nvSpPr>
          <p:cNvPr id="10" name="TextBox 9"/>
          <p:cNvSpPr txBox="1"/>
          <p:nvPr/>
        </p:nvSpPr>
        <p:spPr>
          <a:xfrm>
            <a:off x="6766560" y="5806440"/>
            <a:ext cx="4663440" cy="548640"/>
          </a:xfrm>
          <a:prstGeom prst="rect">
            <a:avLst/>
          </a:prstGeom>
          <a:noFill/>
        </p:spPr>
        <p:txBody>
          <a:bodyPr wrap="none">
            <a:spAutoFit/>
          </a:bodyPr>
          <a:lstStyle/>
          <a:p>
            <a:pPr algn="ctr">
              <a:defRPr sz="1050" b="1">
                <a:solidFill>
                  <a:srgbClr val="1E3A8A"/>
                </a:solidFill>
              </a:defRPr>
            </a:pPr>
            <a:r>
              <a:t>Interactive Club Details Modal with Advisor &amp; Meeting Schedule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0" y="274320"/>
            <a:ext cx="1097280" cy="457200"/>
          </a:xfrm>
          <a:prstGeom prst="rect">
            <a:avLst/>
          </a:prstGeom>
          <a:noFill/>
        </p:spPr>
        <p:txBody>
          <a:bodyPr wrap="none">
            <a:spAutoFit/>
          </a:bodyPr>
          <a:lstStyle/>
          <a:p>
            <a:pPr>
              <a:defRPr sz="1400" b="1">
                <a:solidFill>
                  <a:srgbClr val="BFDBFE"/>
                </a:solidFill>
              </a:defRPr>
            </a:pPr>
            <a:r>
              <a:t>Slide 6 / 6</a:t>
            </a:r>
          </a:p>
        </p:txBody>
      </p:sp>
      <p:sp>
        <p:nvSpPr>
          <p:cNvPr id="5" name="TextBox 4"/>
          <p:cNvSpPr txBox="1"/>
          <p:nvPr/>
        </p:nvSpPr>
        <p:spPr>
          <a:xfrm>
            <a:off x="731520" y="182880"/>
            <a:ext cx="9601200" cy="685800"/>
          </a:xfrm>
          <a:prstGeom prst="rect">
            <a:avLst/>
          </a:prstGeom>
          <a:noFill/>
        </p:spPr>
        <p:txBody>
          <a:bodyPr wrap="none">
            <a:spAutoFit/>
          </a:bodyPr>
          <a:lstStyle/>
          <a:p>
            <a:pPr>
              <a:defRPr sz="2400" b="1">
                <a:solidFill>
                  <a:srgbClr val="FFFFFF"/>
                </a:solidFill>
                <a:latin typeface="Arial"/>
              </a:defRPr>
            </a:pPr>
            <a:r>
              <a:t>Interactive Membership, Test Verification &amp; Conclusion</a:t>
            </a:r>
          </a:p>
        </p:txBody>
      </p:sp>
      <p:sp>
        <p:nvSpPr>
          <p:cNvPr id="6" name="Rounded Rectangle 5"/>
          <p:cNvSpPr/>
          <p:nvPr/>
        </p:nvSpPr>
        <p:spPr>
          <a:xfrm>
            <a:off x="731520" y="1280160"/>
            <a:ext cx="585216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5486400" cy="4892040"/>
          </a:xfrm>
          <a:prstGeom prst="rect">
            <a:avLst/>
          </a:prstGeom>
          <a:noFill/>
        </p:spPr>
        <p:txBody>
          <a:bodyPr wrap="square">
            <a:spAutoFit/>
          </a:bodyPr>
          <a:lstStyle/>
          <a:p>
            <a:pPr>
              <a:defRPr sz="1350" b="1">
                <a:solidFill>
                  <a:srgbClr val="1E3A8A"/>
                </a:solidFill>
              </a:defRPr>
            </a:pPr>
            <a:r>
              <a:t>1. Interactive Join / Leave</a:t>
            </a:r>
          </a:p>
          <a:p>
            <a:pPr>
              <a:spcBef>
                <a:spcPts val="200"/>
              </a:spcBef>
              <a:defRPr sz="1150">
                <a:solidFill>
                  <a:srgbClr val="0F172A"/>
                </a:solidFill>
              </a:defRPr>
            </a:pPr>
            <a:r>
              <a:t>Clicking 'Join Club' toggles membership, increments member count, and changes button to 'Leave Club'.</a:t>
            </a:r>
          </a:p>
          <a:p>
            <a:pPr>
              <a:spcBef>
                <a:spcPts val="1000"/>
              </a:spcBef>
              <a:defRPr sz="1350" b="1">
                <a:solidFill>
                  <a:srgbClr val="1E3A8A"/>
                </a:solidFill>
              </a:defRPr>
            </a:pPr>
            <a:r>
              <a:t>2. Persistent 'JOINED' Tag</a:t>
            </a:r>
          </a:p>
          <a:p>
            <a:pPr>
              <a:spcBef>
                <a:spcPts val="200"/>
              </a:spcBef>
              <a:defRPr sz="1150">
                <a:solidFill>
                  <a:srgbClr val="0F172A"/>
                </a:solidFill>
              </a:defRPr>
            </a:pPr>
            <a:r>
              <a:t>Card immediately displays a green 'JOINED' badge on the dashboard, tracking student membership.</a:t>
            </a:r>
          </a:p>
          <a:p>
            <a:pPr>
              <a:spcBef>
                <a:spcPts val="1000"/>
              </a:spcBef>
              <a:defRPr sz="1350" b="1">
                <a:solidFill>
                  <a:srgbClr val="1E3A8A"/>
                </a:solidFill>
              </a:defRPr>
            </a:pPr>
            <a:r>
              <a:t>3. Real-Time Popup Alerts</a:t>
            </a:r>
          </a:p>
          <a:p>
            <a:pPr>
              <a:spcBef>
                <a:spcPts val="200"/>
              </a:spcBef>
              <a:defRPr sz="1150">
                <a:solidFill>
                  <a:srgbClr val="0F172A"/>
                </a:solidFill>
              </a:defRPr>
            </a:pPr>
            <a:r>
              <a:t>Displays green toast alert: 'Success: You have joined [Club]!' auto-dismissed in 3 seconds.</a:t>
            </a:r>
          </a:p>
          <a:p>
            <a:pPr>
              <a:spcBef>
                <a:spcPts val="1000"/>
              </a:spcBef>
              <a:defRPr sz="1350" b="1">
                <a:solidFill>
                  <a:srgbClr val="1E3A8A"/>
                </a:solidFill>
              </a:defRPr>
            </a:pPr>
            <a:r>
              <a:t>4. Test Verification &amp; Build</a:t>
            </a:r>
          </a:p>
          <a:p>
            <a:pPr>
              <a:spcBef>
                <a:spcPts val="200"/>
              </a:spcBef>
              <a:defRPr sz="1150">
                <a:solidFill>
                  <a:srgbClr val="0F172A"/>
                </a:solidFill>
              </a:defRPr>
            </a:pPr>
            <a:r>
              <a:t>All 8 test cases PASS. Production build completes with zero errors in under 500ms via Vite.</a:t>
            </a:r>
          </a:p>
        </p:txBody>
      </p:sp>
      <p:sp>
        <p:nvSpPr>
          <p:cNvPr id="8" name="Rounded Rectangle 7"/>
          <p:cNvSpPr/>
          <p:nvPr/>
        </p:nvSpPr>
        <p:spPr>
          <a:xfrm>
            <a:off x="6766560" y="1280160"/>
            <a:ext cx="4663440" cy="516636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img_joined.png"/>
          <p:cNvPicPr>
            <a:picLocks noChangeAspect="1"/>
          </p:cNvPicPr>
          <p:nvPr/>
        </p:nvPicPr>
        <p:blipFill>
          <a:blip r:embed="rId3"/>
          <a:stretch>
            <a:fillRect/>
          </a:stretch>
        </p:blipFill>
        <p:spPr>
          <a:xfrm>
            <a:off x="6903720" y="1463040"/>
            <a:ext cx="4389120" cy="4251960"/>
          </a:xfrm>
          <a:prstGeom prst="rect">
            <a:avLst/>
          </a:prstGeom>
        </p:spPr>
      </p:pic>
      <p:sp>
        <p:nvSpPr>
          <p:cNvPr id="10" name="TextBox 9"/>
          <p:cNvSpPr txBox="1"/>
          <p:nvPr/>
        </p:nvSpPr>
        <p:spPr>
          <a:xfrm>
            <a:off x="6766560" y="5806440"/>
            <a:ext cx="4663440" cy="548640"/>
          </a:xfrm>
          <a:prstGeom prst="rect">
            <a:avLst/>
          </a:prstGeom>
          <a:noFill/>
        </p:spPr>
        <p:txBody>
          <a:bodyPr wrap="none">
            <a:spAutoFit/>
          </a:bodyPr>
          <a:lstStyle/>
          <a:p>
            <a:pPr algn="ctr">
              <a:defRPr sz="1050" b="1">
                <a:solidFill>
                  <a:srgbClr val="1E3A8A"/>
                </a:solidFill>
              </a:defRPr>
            </a:pPr>
            <a:r>
              <a:t>Live Joined Status Banner, Leave Button &amp; Real-Time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