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members and sir. Today I am presenting my React project, 'Campus Club Explorer'. This is a responsive single-page application built to help college students easily discover, filter, and join campus clubs that match their passions.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in college campuses, students frequently miss club meetings because info is scattered. Campus Club Explorer centralizes all information. Architecturally, App.jsx manages state and passes data down to child components following React's unidirectional flow.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here are two major concepts: Props and Lists. Instead of writing 8 separate cards, we created one reusable ClubCard component. We map over the array using club.id as the key, which lets React re-render only the exact card that changes.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search and filter UI evaluates both the active category button and the search text simultaneously. When a student selects 'Coding' and types 'AI', it filters instantly without page reloads using clean array methods.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we demonstrated Conditional Rendering in multiple places: showing the modal only when selectedClub is not null, showing an empty state message if no clubs match, and closing the modal cleanly on background click.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implemented interactive membership tracking. When you join, it shows a popup message, updates member count, and marks the card with a JOINED badge. All test cases passed with zero build errors. Thank you, Sir!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57200"/>
            <a:ext cx="5669280" cy="5943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731520"/>
            <a:ext cx="5120640" cy="5394960"/>
          </a:xfrm>
          <a:prstGeom prst="rect">
            <a:avLst/>
          </a:prstGeom>
          <a:noFill/>
        </p:spPr>
        <p:txBody>
          <a:bodyPr wrap="square">
            <a:spAutoFit/>
          </a:bodyPr>
          <a:lstStyle/>
          <a:p>
            <a:pPr>
              <a:defRPr sz="1100" b="1">
                <a:solidFill>
                  <a:srgbClr val="1D4ED8"/>
                </a:solidFill>
                <a:latin typeface="Arial"/>
              </a:defRPr>
            </a:pPr>
            <a:r>
              <a:t>COLLEGE TRAINING LAB ASSESSMENT</a:t>
            </a:r>
          </a:p>
          <a:p>
            <a:pPr>
              <a:spcBef>
                <a:spcPts val="800"/>
              </a:spcBef>
              <a:defRPr sz="3800" b="1">
                <a:solidFill>
                  <a:srgbClr val="1E3A8A"/>
                </a:solidFill>
                <a:latin typeface="Arial"/>
              </a:defRPr>
            </a:pPr>
            <a:r>
              <a:t>Campus Club Explorer</a:t>
            </a:r>
          </a:p>
          <a:p>
            <a:pPr>
              <a:spcBef>
                <a:spcPts val="800"/>
              </a:spcBef>
              <a:defRPr sz="1300">
                <a:solidFill>
                  <a:srgbClr val="475569"/>
                </a:solidFill>
                <a:latin typeface="Arial"/>
              </a:defRPr>
            </a:pPr>
            <a:r>
              <a:t>An Interactive React Web Application for Discovering and Managing College Student Clubs</a:t>
            </a:r>
          </a:p>
          <a:p>
            <a:pPr>
              <a:spcBef>
                <a:spcPts val="1000"/>
              </a:spcBef>
              <a:defRPr sz="1200">
                <a:solidFill>
                  <a:srgbClr val="E2E8F0"/>
                </a:solidFill>
              </a:defRPr>
            </a:pPr>
            <a:r>
              <a:t>————————————————————————————</a:t>
            </a:r>
          </a:p>
          <a:p>
            <a:pPr>
              <a:spcBef>
                <a:spcPts val="800"/>
              </a:spcBef>
              <a:defRPr sz="1150">
                <a:solidFill>
                  <a:srgbClr val="0F172A"/>
                </a:solidFill>
                <a:latin typeface="Arial"/>
              </a:defRPr>
            </a:pPr>
            <a:r>
              <a:t>Department: Computer Science &amp; Engineering</a:t>
            </a:r>
          </a:p>
          <a:p>
            <a:pPr>
              <a:spcBef>
                <a:spcPts val="800"/>
              </a:spcBef>
              <a:defRPr sz="1150">
                <a:solidFill>
                  <a:srgbClr val="0F172A"/>
                </a:solidFill>
                <a:latin typeface="Arial"/>
              </a:defRPr>
            </a:pPr>
            <a:r>
              <a:t>Key Topics: Props • Lists &amp; Keys • Search/Filter UI • Conditional Rendering • Component Reuse</a:t>
            </a:r>
          </a:p>
          <a:p>
            <a:pPr>
              <a:spcBef>
                <a:spcPts val="800"/>
              </a:spcBef>
              <a:defRPr sz="1150">
                <a:solidFill>
                  <a:srgbClr val="0F172A"/>
                </a:solidFill>
                <a:latin typeface="Arial"/>
              </a:defRPr>
            </a:pPr>
            <a:r>
              <a:t>Tech Stack: React 18 • Vite Engine • Vanilla CSS3 (Solid Palette)</a:t>
            </a:r>
          </a:p>
        </p:txBody>
      </p:sp>
      <p:sp>
        <p:nvSpPr>
          <p:cNvPr id="6" name="Rounded Rectangle 5"/>
          <p:cNvSpPr/>
          <p:nvPr/>
        </p:nvSpPr>
        <p:spPr>
          <a:xfrm>
            <a:off x="6583680" y="457200"/>
            <a:ext cx="4876495" cy="5943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766560" y="640080"/>
            <a:ext cx="4510735"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defRPr>
            </a:pPr>
            <a:r>
              <a:t>LIVE WEB APP PREVIEW (REACT + VITE)</a:t>
            </a:r>
          </a:p>
        </p:txBody>
      </p:sp>
      <p:pic>
        <p:nvPicPr>
          <p:cNvPr id="8" name="Picture 7" descr="slide_img_home.png"/>
          <p:cNvPicPr>
            <a:picLocks noChangeAspect="1"/>
          </p:cNvPicPr>
          <p:nvPr/>
        </p:nvPicPr>
        <p:blipFill>
          <a:blip r:embed="rId3"/>
          <a:stretch>
            <a:fillRect/>
          </a:stretch>
        </p:blipFill>
        <p:spPr>
          <a:xfrm>
            <a:off x="6766560" y="1188720"/>
            <a:ext cx="4510735" cy="49377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9601200" cy="868680"/>
          </a:xfrm>
          <a:prstGeom prst="rect">
            <a:avLst/>
          </a:prstGeom>
          <a:noFill/>
        </p:spPr>
        <p:txBody>
          <a:bodyPr wrap="square">
            <a:spAutoFit/>
          </a:bodyPr>
          <a:lstStyle/>
          <a:p>
            <a:pPr>
              <a:defRPr sz="950" b="1">
                <a:solidFill>
                  <a:srgbClr val="BFDBFE"/>
                </a:solidFill>
                <a:latin typeface="Arial"/>
              </a:defRPr>
            </a:pPr>
            <a:r>
              <a:t>PROJECT BACKGROUND &amp; ARCHITECTURE</a:t>
            </a:r>
          </a:p>
          <a:p>
            <a:pPr>
              <a:defRPr sz="2300" b="1">
                <a:solidFill>
                  <a:srgbClr val="FFFFFF"/>
                </a:solidFill>
                <a:latin typeface="Arial"/>
              </a:defRPr>
            </a:pPr>
            <a:r>
              <a:t>Problem Statement &amp; Solution Architecture</a:t>
            </a:r>
          </a:p>
        </p:txBody>
      </p:sp>
      <p:sp>
        <p:nvSpPr>
          <p:cNvPr id="6" name="Rounded Rectangle 5"/>
          <p:cNvSpPr/>
          <p:nvPr/>
        </p:nvSpPr>
        <p:spPr>
          <a:xfrm>
            <a:off x="10607040" y="320040"/>
            <a:ext cx="914400" cy="411480"/>
          </a:xfrm>
          <a:prstGeom prst="roundRect">
            <a:avLst/>
          </a:prstGeom>
          <a:solidFill>
            <a:srgbClr val="1E40AF"/>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 of 6</a:t>
            </a:r>
          </a:p>
        </p:txBody>
      </p:sp>
      <p:sp>
        <p:nvSpPr>
          <p:cNvPr id="7" name="Rounded Rectangle 6"/>
          <p:cNvSpPr/>
          <p:nvPr/>
        </p:nvSpPr>
        <p:spPr>
          <a:xfrm>
            <a:off x="731520" y="1325880"/>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25880"/>
            <a:ext cx="109728" cy="1143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399032"/>
            <a:ext cx="5577840" cy="996696"/>
          </a:xfrm>
          <a:prstGeom prst="rect">
            <a:avLst/>
          </a:prstGeom>
          <a:noFill/>
        </p:spPr>
        <p:txBody>
          <a:bodyPr wrap="square">
            <a:spAutoFit/>
          </a:bodyPr>
          <a:lstStyle/>
          <a:p>
            <a:pPr>
              <a:defRPr sz="1300" b="1">
                <a:solidFill>
                  <a:srgbClr val="1E3A8A"/>
                </a:solidFill>
                <a:latin typeface="Arial"/>
              </a:defRPr>
            </a:pPr>
            <a:r>
              <a:t>1. The Campus Problem</a:t>
            </a:r>
          </a:p>
          <a:p>
            <a:pPr>
              <a:spcBef>
                <a:spcPts val="200"/>
              </a:spcBef>
              <a:defRPr sz="1050">
                <a:solidFill>
                  <a:srgbClr val="0F172A"/>
                </a:solidFill>
                <a:latin typeface="Arial"/>
              </a:defRPr>
            </a:pPr>
            <a:r>
              <a:t>Student club schedules, advisor details, and event updates are fragmented across noticeboards and chat groups, causing low student awareness and participation.</a:t>
            </a:r>
          </a:p>
        </p:txBody>
      </p:sp>
      <p:sp>
        <p:nvSpPr>
          <p:cNvPr id="10" name="Rounded Rectangle 9"/>
          <p:cNvSpPr/>
          <p:nvPr/>
        </p:nvSpPr>
        <p:spPr>
          <a:xfrm>
            <a:off x="731520" y="2615184"/>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615184"/>
            <a:ext cx="109728"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688336"/>
            <a:ext cx="5577840" cy="996696"/>
          </a:xfrm>
          <a:prstGeom prst="rect">
            <a:avLst/>
          </a:prstGeom>
          <a:noFill/>
        </p:spPr>
        <p:txBody>
          <a:bodyPr wrap="square">
            <a:spAutoFit/>
          </a:bodyPr>
          <a:lstStyle/>
          <a:p>
            <a:pPr>
              <a:defRPr sz="1300" b="1">
                <a:solidFill>
                  <a:srgbClr val="1E3A8A"/>
                </a:solidFill>
                <a:latin typeface="Arial"/>
              </a:defRPr>
            </a:pPr>
            <a:r>
              <a:t>2. The Engineering Solution</a:t>
            </a:r>
          </a:p>
          <a:p>
            <a:pPr>
              <a:spcBef>
                <a:spcPts val="200"/>
              </a:spcBef>
              <a:defRPr sz="1050">
                <a:solidFill>
                  <a:srgbClr val="0F172A"/>
                </a:solidFill>
                <a:latin typeface="Arial"/>
              </a:defRPr>
            </a:pPr>
            <a:r>
              <a:t>A centralized, single-page application categorizing clubs into Coding, Sports, Arts, and Entrepreneurship with real-time interactive search.</a:t>
            </a:r>
          </a:p>
        </p:txBody>
      </p:sp>
      <p:sp>
        <p:nvSpPr>
          <p:cNvPr id="13" name="Rounded Rectangle 12"/>
          <p:cNvSpPr/>
          <p:nvPr/>
        </p:nvSpPr>
        <p:spPr>
          <a:xfrm>
            <a:off x="731520" y="3904487"/>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904487"/>
            <a:ext cx="109728" cy="1143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977639"/>
            <a:ext cx="5577840" cy="996696"/>
          </a:xfrm>
          <a:prstGeom prst="rect">
            <a:avLst/>
          </a:prstGeom>
          <a:noFill/>
        </p:spPr>
        <p:txBody>
          <a:bodyPr wrap="square">
            <a:spAutoFit/>
          </a:bodyPr>
          <a:lstStyle/>
          <a:p>
            <a:pPr>
              <a:defRPr sz="1300" b="1">
                <a:solidFill>
                  <a:srgbClr val="1E3A8A"/>
                </a:solidFill>
                <a:latin typeface="Arial"/>
              </a:defRPr>
            </a:pPr>
            <a:r>
              <a:t>3. Unidirectional Data Architecture</a:t>
            </a:r>
          </a:p>
          <a:p>
            <a:pPr>
              <a:spcBef>
                <a:spcPts val="200"/>
              </a:spcBef>
              <a:defRPr sz="1050">
                <a:solidFill>
                  <a:srgbClr val="0F172A"/>
                </a:solidFill>
                <a:latin typeface="Arial"/>
              </a:defRPr>
            </a:pPr>
            <a:r>
              <a:t>App.jsx serves as the single source of truth, managing reactive state and passing data down to child components via props.</a:t>
            </a:r>
          </a:p>
        </p:txBody>
      </p:sp>
      <p:sp>
        <p:nvSpPr>
          <p:cNvPr id="16" name="Rounded Rectangle 15"/>
          <p:cNvSpPr/>
          <p:nvPr/>
        </p:nvSpPr>
        <p:spPr>
          <a:xfrm>
            <a:off x="731520" y="5193792"/>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193792"/>
            <a:ext cx="109728"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266944"/>
            <a:ext cx="5577840" cy="996696"/>
          </a:xfrm>
          <a:prstGeom prst="rect">
            <a:avLst/>
          </a:prstGeom>
          <a:noFill/>
        </p:spPr>
        <p:txBody>
          <a:bodyPr wrap="square">
            <a:spAutoFit/>
          </a:bodyPr>
          <a:lstStyle/>
          <a:p>
            <a:pPr>
              <a:defRPr sz="1300" b="1">
                <a:solidFill>
                  <a:srgbClr val="1E3A8A"/>
                </a:solidFill>
                <a:latin typeface="Arial"/>
              </a:defRPr>
            </a:pPr>
            <a:r>
              <a:t>4. High-Performance Front-End</a:t>
            </a:r>
          </a:p>
          <a:p>
            <a:pPr>
              <a:spcBef>
                <a:spcPts val="200"/>
              </a:spcBef>
              <a:defRPr sz="1050">
                <a:solidFill>
                  <a:srgbClr val="0F172A"/>
                </a:solidFill>
                <a:latin typeface="Arial"/>
              </a:defRPr>
            </a:pPr>
            <a:r>
              <a:t>Built with React 18 functional components and Vite bundler for sub-500ms hot module replacement with zero build errors.</a:t>
            </a:r>
          </a:p>
        </p:txBody>
      </p:sp>
      <p:sp>
        <p:nvSpPr>
          <p:cNvPr id="19" name="Rounded Rectangle 18"/>
          <p:cNvSpPr/>
          <p:nvPr/>
        </p:nvSpPr>
        <p:spPr>
          <a:xfrm>
            <a:off x="6858000" y="1325880"/>
            <a:ext cx="460217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995160" y="1463040"/>
            <a:ext cx="4327855" cy="38404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LIVE DASHBOARD SHOWCASE</a:t>
            </a:r>
          </a:p>
        </p:txBody>
      </p:sp>
      <p:pic>
        <p:nvPicPr>
          <p:cNvPr id="21" name="Picture 20" descr="slide_img_card.png"/>
          <p:cNvPicPr>
            <a:picLocks noChangeAspect="1"/>
          </p:cNvPicPr>
          <p:nvPr/>
        </p:nvPicPr>
        <p:blipFill>
          <a:blip r:embed="rId3"/>
          <a:stretch>
            <a:fillRect/>
          </a:stretch>
        </p:blipFill>
        <p:spPr>
          <a:xfrm>
            <a:off x="6995160" y="1947672"/>
            <a:ext cx="4327855" cy="3749039"/>
          </a:xfrm>
          <a:prstGeom prst="rect">
            <a:avLst/>
          </a:prstGeom>
        </p:spPr>
      </p:pic>
      <p:sp>
        <p:nvSpPr>
          <p:cNvPr id="22" name="Rounded Rectangle 21"/>
          <p:cNvSpPr/>
          <p:nvPr/>
        </p:nvSpPr>
        <p:spPr>
          <a:xfrm>
            <a:off x="6995160" y="5788152"/>
            <a:ext cx="4327855" cy="43891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D4ED8"/>
                </a:solidFill>
              </a:defRPr>
            </a:pPr>
            <a:r>
              <a:t>Club Directory with Search Bar, Filter Pills &amp; Membership Count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9601200" cy="868680"/>
          </a:xfrm>
          <a:prstGeom prst="rect">
            <a:avLst/>
          </a:prstGeom>
          <a:noFill/>
        </p:spPr>
        <p:txBody>
          <a:bodyPr wrap="square">
            <a:spAutoFit/>
          </a:bodyPr>
          <a:lstStyle/>
          <a:p>
            <a:pPr>
              <a:defRPr sz="950" b="1">
                <a:solidFill>
                  <a:srgbClr val="BFDBFE"/>
                </a:solidFill>
                <a:latin typeface="Arial"/>
              </a:defRPr>
            </a:pPr>
            <a:r>
              <a:t>CORE REACT CONCEPTS</a:t>
            </a:r>
          </a:p>
          <a:p>
            <a:pPr>
              <a:defRPr sz="2300" b="1">
                <a:solidFill>
                  <a:srgbClr val="FFFFFF"/>
                </a:solidFill>
                <a:latin typeface="Arial"/>
              </a:defRPr>
            </a:pPr>
            <a:r>
              <a:t>Props, Component Reuse, Lists &amp; Keys</a:t>
            </a:r>
          </a:p>
        </p:txBody>
      </p:sp>
      <p:sp>
        <p:nvSpPr>
          <p:cNvPr id="6" name="Rounded Rectangle 5"/>
          <p:cNvSpPr/>
          <p:nvPr/>
        </p:nvSpPr>
        <p:spPr>
          <a:xfrm>
            <a:off x="10607040" y="320040"/>
            <a:ext cx="914400" cy="411480"/>
          </a:xfrm>
          <a:prstGeom prst="roundRect">
            <a:avLst/>
          </a:prstGeom>
          <a:solidFill>
            <a:srgbClr val="1E40AF"/>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 of 6</a:t>
            </a:r>
          </a:p>
        </p:txBody>
      </p:sp>
      <p:sp>
        <p:nvSpPr>
          <p:cNvPr id="7" name="Rounded Rectangle 6"/>
          <p:cNvSpPr/>
          <p:nvPr/>
        </p:nvSpPr>
        <p:spPr>
          <a:xfrm>
            <a:off x="731520" y="1325880"/>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25880"/>
            <a:ext cx="109728" cy="1143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399032"/>
            <a:ext cx="5577840" cy="996696"/>
          </a:xfrm>
          <a:prstGeom prst="rect">
            <a:avLst/>
          </a:prstGeom>
          <a:noFill/>
        </p:spPr>
        <p:txBody>
          <a:bodyPr wrap="square">
            <a:spAutoFit/>
          </a:bodyPr>
          <a:lstStyle/>
          <a:p>
            <a:pPr>
              <a:defRPr sz="1300" b="1">
                <a:solidFill>
                  <a:srgbClr val="1E3A8A"/>
                </a:solidFill>
                <a:latin typeface="Arial"/>
              </a:defRPr>
            </a:pPr>
            <a:r>
              <a:t>1. Props (Properties)</a:t>
            </a:r>
          </a:p>
          <a:p>
            <a:pPr>
              <a:spcBef>
                <a:spcPts val="200"/>
              </a:spcBef>
              <a:defRPr sz="1050">
                <a:solidFill>
                  <a:srgbClr val="0F172A"/>
                </a:solidFill>
                <a:latin typeface="Arial"/>
              </a:defRPr>
            </a:pPr>
            <a:r>
              <a:t>Read-only arguments passed from parent (App.jsx) to child (ClubCard.jsx). ClubCard receives the club object, isJoined flag, and click handlers cleanly.</a:t>
            </a:r>
          </a:p>
        </p:txBody>
      </p:sp>
      <p:sp>
        <p:nvSpPr>
          <p:cNvPr id="10" name="Rounded Rectangle 9"/>
          <p:cNvSpPr/>
          <p:nvPr/>
        </p:nvSpPr>
        <p:spPr>
          <a:xfrm>
            <a:off x="731520" y="2615184"/>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615184"/>
            <a:ext cx="109728"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688336"/>
            <a:ext cx="5577840" cy="996696"/>
          </a:xfrm>
          <a:prstGeom prst="rect">
            <a:avLst/>
          </a:prstGeom>
          <a:noFill/>
        </p:spPr>
        <p:txBody>
          <a:bodyPr wrap="square">
            <a:spAutoFit/>
          </a:bodyPr>
          <a:lstStyle/>
          <a:p>
            <a:pPr>
              <a:defRPr sz="1300" b="1">
                <a:solidFill>
                  <a:srgbClr val="1E3A8A"/>
                </a:solidFill>
                <a:latin typeface="Arial"/>
              </a:defRPr>
            </a:pPr>
            <a:r>
              <a:t>2. Component Reuse</a:t>
            </a:r>
          </a:p>
          <a:p>
            <a:pPr>
              <a:spcBef>
                <a:spcPts val="200"/>
              </a:spcBef>
              <a:defRPr sz="1050">
                <a:solidFill>
                  <a:srgbClr val="0F172A"/>
                </a:solidFill>
                <a:latin typeface="Arial"/>
              </a:defRPr>
            </a:pPr>
            <a:r>
              <a:t>A single ClubCard component is authored once and dynamically reused across all 8 campus clubs with zero duplicate markup.</a:t>
            </a:r>
          </a:p>
        </p:txBody>
      </p:sp>
      <p:sp>
        <p:nvSpPr>
          <p:cNvPr id="13" name="Rounded Rectangle 12"/>
          <p:cNvSpPr/>
          <p:nvPr/>
        </p:nvSpPr>
        <p:spPr>
          <a:xfrm>
            <a:off x="731520" y="3904487"/>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904487"/>
            <a:ext cx="109728" cy="1143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977639"/>
            <a:ext cx="5577840" cy="996696"/>
          </a:xfrm>
          <a:prstGeom prst="rect">
            <a:avLst/>
          </a:prstGeom>
          <a:noFill/>
        </p:spPr>
        <p:txBody>
          <a:bodyPr wrap="square">
            <a:spAutoFit/>
          </a:bodyPr>
          <a:lstStyle/>
          <a:p>
            <a:pPr>
              <a:defRPr sz="1300" b="1">
                <a:solidFill>
                  <a:srgbClr val="1E3A8A"/>
                </a:solidFill>
                <a:latin typeface="Arial"/>
              </a:defRPr>
            </a:pPr>
            <a:r>
              <a:t>3. Array Mapping (.map)</a:t>
            </a:r>
          </a:p>
          <a:p>
            <a:pPr>
              <a:spcBef>
                <a:spcPts val="200"/>
              </a:spcBef>
              <a:defRPr sz="1050">
                <a:solidFill>
                  <a:srgbClr val="0F172A"/>
                </a:solidFill>
                <a:latin typeface="Arial"/>
              </a:defRPr>
            </a:pPr>
            <a:r>
              <a:t>JavaScript's .map() iterates through the filtered clubs array, returning a &lt;ClubCard /&gt; for each matching club record.</a:t>
            </a:r>
          </a:p>
        </p:txBody>
      </p:sp>
      <p:sp>
        <p:nvSpPr>
          <p:cNvPr id="16" name="Rounded Rectangle 15"/>
          <p:cNvSpPr/>
          <p:nvPr/>
        </p:nvSpPr>
        <p:spPr>
          <a:xfrm>
            <a:off x="731520" y="5193792"/>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193792"/>
            <a:ext cx="109728"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266944"/>
            <a:ext cx="5577840" cy="996696"/>
          </a:xfrm>
          <a:prstGeom prst="rect">
            <a:avLst/>
          </a:prstGeom>
          <a:noFill/>
        </p:spPr>
        <p:txBody>
          <a:bodyPr wrap="square">
            <a:spAutoFit/>
          </a:bodyPr>
          <a:lstStyle/>
          <a:p>
            <a:pPr>
              <a:defRPr sz="1300" b="1">
                <a:solidFill>
                  <a:srgbClr val="1E3A8A"/>
                </a:solidFill>
                <a:latin typeface="Arial"/>
              </a:defRPr>
            </a:pPr>
            <a:r>
              <a:t>4. The Unique 'key' Prop</a:t>
            </a:r>
          </a:p>
          <a:p>
            <a:pPr>
              <a:spcBef>
                <a:spcPts val="200"/>
              </a:spcBef>
              <a:defRPr sz="1050">
                <a:solidFill>
                  <a:srgbClr val="0F172A"/>
                </a:solidFill>
                <a:latin typeface="Arial"/>
              </a:defRPr>
            </a:pPr>
            <a:r>
              <a:t>Each item receives key={club.id}. This enables React's Virtual DOM reconciliation engine to track item updates efficiently without redrawing the entire page.</a:t>
            </a:r>
          </a:p>
        </p:txBody>
      </p:sp>
      <p:sp>
        <p:nvSpPr>
          <p:cNvPr id="19" name="Rounded Rectangle 18"/>
          <p:cNvSpPr/>
          <p:nvPr/>
        </p:nvSpPr>
        <p:spPr>
          <a:xfrm>
            <a:off x="6858000" y="1325880"/>
            <a:ext cx="460217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995160" y="1463040"/>
            <a:ext cx="4327855" cy="38404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COMPONENT REUSE IN ACTION</a:t>
            </a:r>
          </a:p>
        </p:txBody>
      </p:sp>
      <p:pic>
        <p:nvPicPr>
          <p:cNvPr id="21" name="Picture 20" descr="slide_img_card.png"/>
          <p:cNvPicPr>
            <a:picLocks noChangeAspect="1"/>
          </p:cNvPicPr>
          <p:nvPr/>
        </p:nvPicPr>
        <p:blipFill>
          <a:blip r:embed="rId3"/>
          <a:stretch>
            <a:fillRect/>
          </a:stretch>
        </p:blipFill>
        <p:spPr>
          <a:xfrm>
            <a:off x="6995160" y="1947672"/>
            <a:ext cx="4327855" cy="3749039"/>
          </a:xfrm>
          <a:prstGeom prst="rect">
            <a:avLst/>
          </a:prstGeom>
        </p:spPr>
      </p:pic>
      <p:sp>
        <p:nvSpPr>
          <p:cNvPr id="22" name="Rounded Rectangle 21"/>
          <p:cNvSpPr/>
          <p:nvPr/>
        </p:nvSpPr>
        <p:spPr>
          <a:xfrm>
            <a:off x="6995160" y="5788152"/>
            <a:ext cx="4327855" cy="43891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D4ED8"/>
                </a:solidFill>
              </a:defRPr>
            </a:pPr>
            <a:r>
              <a:t>8 Dynamic Club Cards Rendered using .map() and unique keys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9601200" cy="868680"/>
          </a:xfrm>
          <a:prstGeom prst="rect">
            <a:avLst/>
          </a:prstGeom>
          <a:noFill/>
        </p:spPr>
        <p:txBody>
          <a:bodyPr wrap="square">
            <a:spAutoFit/>
          </a:bodyPr>
          <a:lstStyle/>
          <a:p>
            <a:pPr>
              <a:defRPr sz="950" b="1">
                <a:solidFill>
                  <a:srgbClr val="BFDBFE"/>
                </a:solidFill>
                <a:latin typeface="Arial"/>
              </a:defRPr>
            </a:pPr>
            <a:r>
              <a:t>DYNAMIC INTERACTION</a:t>
            </a:r>
          </a:p>
          <a:p>
            <a:pPr>
              <a:defRPr sz="2300" b="1">
                <a:solidFill>
                  <a:srgbClr val="FFFFFF"/>
                </a:solidFill>
                <a:latin typeface="Arial"/>
              </a:defRPr>
            </a:pPr>
            <a:r>
              <a:t>Search &amp; Category Filter UI</a:t>
            </a:r>
          </a:p>
        </p:txBody>
      </p:sp>
      <p:sp>
        <p:nvSpPr>
          <p:cNvPr id="6" name="Rounded Rectangle 5"/>
          <p:cNvSpPr/>
          <p:nvPr/>
        </p:nvSpPr>
        <p:spPr>
          <a:xfrm>
            <a:off x="10607040" y="320040"/>
            <a:ext cx="914400" cy="411480"/>
          </a:xfrm>
          <a:prstGeom prst="roundRect">
            <a:avLst/>
          </a:prstGeom>
          <a:solidFill>
            <a:srgbClr val="1E40AF"/>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 of 6</a:t>
            </a:r>
          </a:p>
        </p:txBody>
      </p:sp>
      <p:sp>
        <p:nvSpPr>
          <p:cNvPr id="7" name="Rounded Rectangle 6"/>
          <p:cNvSpPr/>
          <p:nvPr/>
        </p:nvSpPr>
        <p:spPr>
          <a:xfrm>
            <a:off x="731520" y="1325880"/>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25880"/>
            <a:ext cx="109728" cy="1143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399032"/>
            <a:ext cx="5577840" cy="996696"/>
          </a:xfrm>
          <a:prstGeom prst="rect">
            <a:avLst/>
          </a:prstGeom>
          <a:noFill/>
        </p:spPr>
        <p:txBody>
          <a:bodyPr wrap="square">
            <a:spAutoFit/>
          </a:bodyPr>
          <a:lstStyle/>
          <a:p>
            <a:pPr>
              <a:defRPr sz="1300" b="1">
                <a:solidFill>
                  <a:srgbClr val="1E3A8A"/>
                </a:solidFill>
                <a:latin typeface="Arial"/>
              </a:defRPr>
            </a:pPr>
            <a:r>
              <a:t>1. Controlled Form State</a:t>
            </a:r>
          </a:p>
          <a:p>
            <a:pPr>
              <a:spcBef>
                <a:spcPts val="200"/>
              </a:spcBef>
              <a:defRPr sz="1050">
                <a:solidFill>
                  <a:srgbClr val="0F172A"/>
                </a:solidFill>
                <a:latin typeface="Arial"/>
              </a:defRPr>
            </a:pPr>
            <a:r>
              <a:t>searchQuery and selectedCategory are maintained in React state using the useState hook, making inputs fully controlled.</a:t>
            </a:r>
          </a:p>
        </p:txBody>
      </p:sp>
      <p:sp>
        <p:nvSpPr>
          <p:cNvPr id="10" name="Rounded Rectangle 9"/>
          <p:cNvSpPr/>
          <p:nvPr/>
        </p:nvSpPr>
        <p:spPr>
          <a:xfrm>
            <a:off x="731520" y="2615184"/>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615184"/>
            <a:ext cx="109728"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688336"/>
            <a:ext cx="5577840" cy="996696"/>
          </a:xfrm>
          <a:prstGeom prst="rect">
            <a:avLst/>
          </a:prstGeom>
          <a:noFill/>
        </p:spPr>
        <p:txBody>
          <a:bodyPr wrap="square">
            <a:spAutoFit/>
          </a:bodyPr>
          <a:lstStyle/>
          <a:p>
            <a:pPr>
              <a:defRPr sz="1300" b="1">
                <a:solidFill>
                  <a:srgbClr val="1E3A8A"/>
                </a:solidFill>
                <a:latin typeface="Arial"/>
              </a:defRPr>
            </a:pPr>
            <a:r>
              <a:t>2. Dual-Predicate Filter Logic</a:t>
            </a:r>
          </a:p>
          <a:p>
            <a:pPr>
              <a:spcBef>
                <a:spcPts val="200"/>
              </a:spcBef>
              <a:defRPr sz="1050">
                <a:solidFill>
                  <a:srgbClr val="0F172A"/>
                </a:solidFill>
                <a:latin typeface="Arial"/>
              </a:defRPr>
            </a:pPr>
            <a:r>
              <a:t>The filter function evaluates category matching ('All' or exact match) AND keyword matching (.toLowerCase().includes()) together on every keystroke.</a:t>
            </a:r>
          </a:p>
        </p:txBody>
      </p:sp>
      <p:sp>
        <p:nvSpPr>
          <p:cNvPr id="13" name="Rounded Rectangle 12"/>
          <p:cNvSpPr/>
          <p:nvPr/>
        </p:nvSpPr>
        <p:spPr>
          <a:xfrm>
            <a:off x="731520" y="3904487"/>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904487"/>
            <a:ext cx="109728" cy="1143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977639"/>
            <a:ext cx="5577840" cy="996696"/>
          </a:xfrm>
          <a:prstGeom prst="rect">
            <a:avLst/>
          </a:prstGeom>
          <a:noFill/>
        </p:spPr>
        <p:txBody>
          <a:bodyPr wrap="square">
            <a:spAutoFit/>
          </a:bodyPr>
          <a:lstStyle/>
          <a:p>
            <a:pPr>
              <a:defRPr sz="1300" b="1">
                <a:solidFill>
                  <a:srgbClr val="1E3A8A"/>
                </a:solidFill>
                <a:latin typeface="Arial"/>
              </a:defRPr>
            </a:pPr>
            <a:r>
              <a:t>3. Zero Page Reloads</a:t>
            </a:r>
          </a:p>
          <a:p>
            <a:pPr>
              <a:spcBef>
                <a:spcPts val="200"/>
              </a:spcBef>
              <a:defRPr sz="1050">
                <a:solidFill>
                  <a:srgbClr val="0F172A"/>
                </a:solidFill>
                <a:latin typeface="Arial"/>
              </a:defRPr>
            </a:pPr>
            <a:r>
              <a:t>Filtered results update reactively in real time without refreshing the browser, providing a seamless user experience.</a:t>
            </a:r>
          </a:p>
        </p:txBody>
      </p:sp>
      <p:sp>
        <p:nvSpPr>
          <p:cNvPr id="16" name="Rounded Rectangle 15"/>
          <p:cNvSpPr/>
          <p:nvPr/>
        </p:nvSpPr>
        <p:spPr>
          <a:xfrm>
            <a:off x="731520" y="5193792"/>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193792"/>
            <a:ext cx="109728"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266944"/>
            <a:ext cx="5577840" cy="996696"/>
          </a:xfrm>
          <a:prstGeom prst="rect">
            <a:avLst/>
          </a:prstGeom>
          <a:noFill/>
        </p:spPr>
        <p:txBody>
          <a:bodyPr wrap="square">
            <a:spAutoFit/>
          </a:bodyPr>
          <a:lstStyle/>
          <a:p>
            <a:pPr>
              <a:defRPr sz="1300" b="1">
                <a:solidFill>
                  <a:srgbClr val="1E3A8A"/>
                </a:solidFill>
                <a:latin typeface="Arial"/>
              </a:defRPr>
            </a:pPr>
            <a:r>
              <a:t>4. Ergonomic Controls</a:t>
            </a:r>
          </a:p>
          <a:p>
            <a:pPr>
              <a:spcBef>
                <a:spcPts val="200"/>
              </a:spcBef>
              <a:defRPr sz="1050">
                <a:solidFill>
                  <a:srgbClr val="0F172A"/>
                </a:solidFill>
                <a:latin typeface="Arial"/>
              </a:defRPr>
            </a:pPr>
            <a:r>
              <a:t>Includes active category pill indicators, an instant 'Clear' button in the search bar, and dynamic club counters.</a:t>
            </a:r>
          </a:p>
        </p:txBody>
      </p:sp>
      <p:sp>
        <p:nvSpPr>
          <p:cNvPr id="19" name="Rounded Rectangle 18"/>
          <p:cNvSpPr/>
          <p:nvPr/>
        </p:nvSpPr>
        <p:spPr>
          <a:xfrm>
            <a:off x="6858000" y="1325880"/>
            <a:ext cx="460217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995160" y="1463040"/>
            <a:ext cx="4327855" cy="38404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SEARCH &amp; FILTER CONTROLS</a:t>
            </a:r>
          </a:p>
        </p:txBody>
      </p:sp>
      <p:pic>
        <p:nvPicPr>
          <p:cNvPr id="21" name="Picture 20" descr="slide_img_home.png"/>
          <p:cNvPicPr>
            <a:picLocks noChangeAspect="1"/>
          </p:cNvPicPr>
          <p:nvPr/>
        </p:nvPicPr>
        <p:blipFill>
          <a:blip r:embed="rId3"/>
          <a:stretch>
            <a:fillRect/>
          </a:stretch>
        </p:blipFill>
        <p:spPr>
          <a:xfrm>
            <a:off x="6995160" y="1947672"/>
            <a:ext cx="4327855" cy="3749039"/>
          </a:xfrm>
          <a:prstGeom prst="rect">
            <a:avLst/>
          </a:prstGeom>
        </p:spPr>
      </p:pic>
      <p:sp>
        <p:nvSpPr>
          <p:cNvPr id="22" name="Rounded Rectangle 21"/>
          <p:cNvSpPr/>
          <p:nvPr/>
        </p:nvSpPr>
        <p:spPr>
          <a:xfrm>
            <a:off x="6995160" y="5788152"/>
            <a:ext cx="4327855" cy="43891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D4ED8"/>
                </a:solidFill>
              </a:defRPr>
            </a:pPr>
            <a:r>
              <a:t>Instant Search Bar &amp; Category Pills (Coding, Sports, Arts, E-Cell)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9601200" cy="868680"/>
          </a:xfrm>
          <a:prstGeom prst="rect">
            <a:avLst/>
          </a:prstGeom>
          <a:noFill/>
        </p:spPr>
        <p:txBody>
          <a:bodyPr wrap="square">
            <a:spAutoFit/>
          </a:bodyPr>
          <a:lstStyle/>
          <a:p>
            <a:pPr>
              <a:defRPr sz="950" b="1">
                <a:solidFill>
                  <a:srgbClr val="BFDBFE"/>
                </a:solidFill>
                <a:latin typeface="Arial"/>
              </a:defRPr>
            </a:pPr>
            <a:r>
              <a:t>ADVANCED UI LOGIC</a:t>
            </a:r>
          </a:p>
          <a:p>
            <a:pPr>
              <a:defRPr sz="2300" b="1">
                <a:solidFill>
                  <a:srgbClr val="FFFFFF"/>
                </a:solidFill>
                <a:latin typeface="Arial"/>
              </a:defRPr>
            </a:pPr>
            <a:r>
              <a:t>Conditional Rendering &amp; Interactive Modal</a:t>
            </a:r>
          </a:p>
        </p:txBody>
      </p:sp>
      <p:sp>
        <p:nvSpPr>
          <p:cNvPr id="6" name="Rounded Rectangle 5"/>
          <p:cNvSpPr/>
          <p:nvPr/>
        </p:nvSpPr>
        <p:spPr>
          <a:xfrm>
            <a:off x="10607040" y="320040"/>
            <a:ext cx="914400" cy="411480"/>
          </a:xfrm>
          <a:prstGeom prst="roundRect">
            <a:avLst/>
          </a:prstGeom>
          <a:solidFill>
            <a:srgbClr val="1E40AF"/>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 of 6</a:t>
            </a:r>
          </a:p>
        </p:txBody>
      </p:sp>
      <p:sp>
        <p:nvSpPr>
          <p:cNvPr id="7" name="Rounded Rectangle 6"/>
          <p:cNvSpPr/>
          <p:nvPr/>
        </p:nvSpPr>
        <p:spPr>
          <a:xfrm>
            <a:off x="731520" y="1325880"/>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25880"/>
            <a:ext cx="109728" cy="1143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399032"/>
            <a:ext cx="5577840" cy="996696"/>
          </a:xfrm>
          <a:prstGeom prst="rect">
            <a:avLst/>
          </a:prstGeom>
          <a:noFill/>
        </p:spPr>
        <p:txBody>
          <a:bodyPr wrap="square">
            <a:spAutoFit/>
          </a:bodyPr>
          <a:lstStyle/>
          <a:p>
            <a:pPr>
              <a:defRPr sz="1300" b="1">
                <a:solidFill>
                  <a:srgbClr val="1E3A8A"/>
                </a:solidFill>
                <a:latin typeface="Arial"/>
              </a:defRPr>
            </a:pPr>
            <a:r>
              <a:t>1. Short-Circuit Evaluation</a:t>
            </a:r>
          </a:p>
          <a:p>
            <a:pPr>
              <a:spcBef>
                <a:spcPts val="200"/>
              </a:spcBef>
              <a:defRPr sz="1050">
                <a:solidFill>
                  <a:srgbClr val="0F172A"/>
                </a:solidFill>
                <a:latin typeface="Arial"/>
              </a:defRPr>
            </a:pPr>
            <a:r>
              <a:t>{selectedClub &amp;&amp; &lt;ClubModal ... /&gt;} ensures zero modal DOM overhead until a user clicks 'View Details' on a club card.</a:t>
            </a:r>
          </a:p>
        </p:txBody>
      </p:sp>
      <p:sp>
        <p:nvSpPr>
          <p:cNvPr id="10" name="Rounded Rectangle 9"/>
          <p:cNvSpPr/>
          <p:nvPr/>
        </p:nvSpPr>
        <p:spPr>
          <a:xfrm>
            <a:off x="731520" y="2615184"/>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615184"/>
            <a:ext cx="109728"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688336"/>
            <a:ext cx="5577840" cy="996696"/>
          </a:xfrm>
          <a:prstGeom prst="rect">
            <a:avLst/>
          </a:prstGeom>
          <a:noFill/>
        </p:spPr>
        <p:txBody>
          <a:bodyPr wrap="square">
            <a:spAutoFit/>
          </a:bodyPr>
          <a:lstStyle/>
          <a:p>
            <a:pPr>
              <a:defRPr sz="1300" b="1">
                <a:solidFill>
                  <a:srgbClr val="1E3A8A"/>
                </a:solidFill>
                <a:latin typeface="Arial"/>
              </a:defRPr>
            </a:pPr>
            <a:r>
              <a:t>2. Empty State Fallback</a:t>
            </a:r>
          </a:p>
          <a:p>
            <a:pPr>
              <a:spcBef>
                <a:spcPts val="200"/>
              </a:spcBef>
              <a:defRPr sz="1050">
                <a:solidFill>
                  <a:srgbClr val="0F172A"/>
                </a:solidFill>
                <a:latin typeface="Arial"/>
              </a:defRPr>
            </a:pPr>
            <a:r>
              <a:t>A ternary operator renders the club grid when items exist, or a friendly 'No clubs found' box with a 'Reset Filters' button.</a:t>
            </a:r>
          </a:p>
        </p:txBody>
      </p:sp>
      <p:sp>
        <p:nvSpPr>
          <p:cNvPr id="13" name="Rounded Rectangle 12"/>
          <p:cNvSpPr/>
          <p:nvPr/>
        </p:nvSpPr>
        <p:spPr>
          <a:xfrm>
            <a:off x="731520" y="3904487"/>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904487"/>
            <a:ext cx="109728" cy="1143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977639"/>
            <a:ext cx="5577840" cy="996696"/>
          </a:xfrm>
          <a:prstGeom prst="rect">
            <a:avLst/>
          </a:prstGeom>
          <a:noFill/>
        </p:spPr>
        <p:txBody>
          <a:bodyPr wrap="square">
            <a:spAutoFit/>
          </a:bodyPr>
          <a:lstStyle/>
          <a:p>
            <a:pPr>
              <a:defRPr sz="1300" b="1">
                <a:solidFill>
                  <a:srgbClr val="1E3A8A"/>
                </a:solidFill>
                <a:latin typeface="Arial"/>
              </a:defRPr>
            </a:pPr>
            <a:r>
              <a:t>3. Comprehensive Club Modal</a:t>
            </a:r>
          </a:p>
          <a:p>
            <a:pPr>
              <a:spcBef>
                <a:spcPts val="200"/>
              </a:spcBef>
              <a:defRPr sz="1050">
                <a:solidFill>
                  <a:srgbClr val="0F172A"/>
                </a:solidFill>
                <a:latin typeface="Arial"/>
              </a:defRPr>
            </a:pPr>
            <a:r>
              <a:t>Displays weekly meeting schedule, faculty coordinator advisor, active member counts, and bulleted activity items.</a:t>
            </a:r>
          </a:p>
        </p:txBody>
      </p:sp>
      <p:sp>
        <p:nvSpPr>
          <p:cNvPr id="16" name="Rounded Rectangle 15"/>
          <p:cNvSpPr/>
          <p:nvPr/>
        </p:nvSpPr>
        <p:spPr>
          <a:xfrm>
            <a:off x="731520" y="5193792"/>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193792"/>
            <a:ext cx="109728"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266944"/>
            <a:ext cx="5577840" cy="996696"/>
          </a:xfrm>
          <a:prstGeom prst="rect">
            <a:avLst/>
          </a:prstGeom>
          <a:noFill/>
        </p:spPr>
        <p:txBody>
          <a:bodyPr wrap="square">
            <a:spAutoFit/>
          </a:bodyPr>
          <a:lstStyle/>
          <a:p>
            <a:pPr>
              <a:defRPr sz="1300" b="1">
                <a:solidFill>
                  <a:srgbClr val="1E3A8A"/>
                </a:solidFill>
                <a:latin typeface="Arial"/>
              </a:defRPr>
            </a:pPr>
            <a:r>
              <a:t>4. Accessible Dismissal</a:t>
            </a:r>
          </a:p>
          <a:p>
            <a:pPr>
              <a:spcBef>
                <a:spcPts val="200"/>
              </a:spcBef>
              <a:defRPr sz="1050">
                <a:solidFill>
                  <a:srgbClr val="0F172A"/>
                </a:solidFill>
                <a:latin typeface="Arial"/>
              </a:defRPr>
            </a:pPr>
            <a:r>
              <a:t>Modal closes gracefully on clicking the 'Close' button, the 'Done' button, or tapping the darkened background.</a:t>
            </a:r>
          </a:p>
        </p:txBody>
      </p:sp>
      <p:sp>
        <p:nvSpPr>
          <p:cNvPr id="19" name="Rounded Rectangle 18"/>
          <p:cNvSpPr/>
          <p:nvPr/>
        </p:nvSpPr>
        <p:spPr>
          <a:xfrm>
            <a:off x="6858000" y="1325880"/>
            <a:ext cx="460217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995160" y="1463040"/>
            <a:ext cx="4327855" cy="38404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MODAL DIALOG POPUP</a:t>
            </a:r>
          </a:p>
        </p:txBody>
      </p:sp>
      <p:pic>
        <p:nvPicPr>
          <p:cNvPr id="21" name="Picture 20" descr="slide_img_modal.png"/>
          <p:cNvPicPr>
            <a:picLocks noChangeAspect="1"/>
          </p:cNvPicPr>
          <p:nvPr/>
        </p:nvPicPr>
        <p:blipFill>
          <a:blip r:embed="rId3"/>
          <a:stretch>
            <a:fillRect/>
          </a:stretch>
        </p:blipFill>
        <p:spPr>
          <a:xfrm>
            <a:off x="6995160" y="1947672"/>
            <a:ext cx="4327855" cy="3749039"/>
          </a:xfrm>
          <a:prstGeom prst="rect">
            <a:avLst/>
          </a:prstGeom>
        </p:spPr>
      </p:pic>
      <p:sp>
        <p:nvSpPr>
          <p:cNvPr id="22" name="Rounded Rectangle 21"/>
          <p:cNvSpPr/>
          <p:nvPr/>
        </p:nvSpPr>
        <p:spPr>
          <a:xfrm>
            <a:off x="6995160" y="5788152"/>
            <a:ext cx="4327855" cy="43891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D4ED8"/>
                </a:solidFill>
              </a:defRPr>
            </a:pPr>
            <a:r>
              <a:t>Details Popup Showing Advisor, Meeting Day &amp; Activities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0"/>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9601200" cy="868680"/>
          </a:xfrm>
          <a:prstGeom prst="rect">
            <a:avLst/>
          </a:prstGeom>
          <a:noFill/>
        </p:spPr>
        <p:txBody>
          <a:bodyPr wrap="square">
            <a:spAutoFit/>
          </a:bodyPr>
          <a:lstStyle/>
          <a:p>
            <a:pPr>
              <a:defRPr sz="950" b="1">
                <a:solidFill>
                  <a:srgbClr val="BFDBFE"/>
                </a:solidFill>
                <a:latin typeface="Arial"/>
              </a:defRPr>
            </a:pPr>
            <a:r>
              <a:t>EVALUATION SUMMARY &amp; RESULTS</a:t>
            </a:r>
          </a:p>
          <a:p>
            <a:pPr>
              <a:defRPr sz="2300" b="1">
                <a:solidFill>
                  <a:srgbClr val="FFFFFF"/>
                </a:solidFill>
                <a:latin typeface="Arial"/>
              </a:defRPr>
            </a:pPr>
            <a:r>
              <a:t>Membership Tracking, Testing &amp; Conclusion</a:t>
            </a:r>
          </a:p>
        </p:txBody>
      </p:sp>
      <p:sp>
        <p:nvSpPr>
          <p:cNvPr id="6" name="Rounded Rectangle 5"/>
          <p:cNvSpPr/>
          <p:nvPr/>
        </p:nvSpPr>
        <p:spPr>
          <a:xfrm>
            <a:off x="10607040" y="320040"/>
            <a:ext cx="914400" cy="411480"/>
          </a:xfrm>
          <a:prstGeom prst="roundRect">
            <a:avLst/>
          </a:prstGeom>
          <a:solidFill>
            <a:srgbClr val="1E40AF"/>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6 of 6</a:t>
            </a:r>
          </a:p>
        </p:txBody>
      </p:sp>
      <p:sp>
        <p:nvSpPr>
          <p:cNvPr id="7" name="Rounded Rectangle 6"/>
          <p:cNvSpPr/>
          <p:nvPr/>
        </p:nvSpPr>
        <p:spPr>
          <a:xfrm>
            <a:off x="731520" y="1325880"/>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25880"/>
            <a:ext cx="109728" cy="1143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399032"/>
            <a:ext cx="5577840" cy="996696"/>
          </a:xfrm>
          <a:prstGeom prst="rect">
            <a:avLst/>
          </a:prstGeom>
          <a:noFill/>
        </p:spPr>
        <p:txBody>
          <a:bodyPr wrap="square">
            <a:spAutoFit/>
          </a:bodyPr>
          <a:lstStyle/>
          <a:p>
            <a:pPr>
              <a:defRPr sz="1300" b="1">
                <a:solidFill>
                  <a:srgbClr val="1E3A8A"/>
                </a:solidFill>
                <a:latin typeface="Arial"/>
              </a:defRPr>
            </a:pPr>
            <a:r>
              <a:t>1. Interactive Join / Leave</a:t>
            </a:r>
          </a:p>
          <a:p>
            <a:pPr>
              <a:spcBef>
                <a:spcPts val="200"/>
              </a:spcBef>
              <a:defRPr sz="1050">
                <a:solidFill>
                  <a:srgbClr val="0F172A"/>
                </a:solidFill>
                <a:latin typeface="Arial"/>
              </a:defRPr>
            </a:pPr>
            <a:r>
              <a:t>Clicking 'Join Club' toggles membership, increments member count, and changes button to 'Leave Club'.</a:t>
            </a:r>
          </a:p>
        </p:txBody>
      </p:sp>
      <p:sp>
        <p:nvSpPr>
          <p:cNvPr id="10" name="Rounded Rectangle 9"/>
          <p:cNvSpPr/>
          <p:nvPr/>
        </p:nvSpPr>
        <p:spPr>
          <a:xfrm>
            <a:off x="731520" y="2615184"/>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615184"/>
            <a:ext cx="109728"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688336"/>
            <a:ext cx="5577840" cy="996696"/>
          </a:xfrm>
          <a:prstGeom prst="rect">
            <a:avLst/>
          </a:prstGeom>
          <a:noFill/>
        </p:spPr>
        <p:txBody>
          <a:bodyPr wrap="square">
            <a:spAutoFit/>
          </a:bodyPr>
          <a:lstStyle/>
          <a:p>
            <a:pPr>
              <a:defRPr sz="1300" b="1">
                <a:solidFill>
                  <a:srgbClr val="1E3A8A"/>
                </a:solidFill>
                <a:latin typeface="Arial"/>
              </a:defRPr>
            </a:pPr>
            <a:r>
              <a:t>2. Persistent 'JOINED' Tag</a:t>
            </a:r>
          </a:p>
          <a:p>
            <a:pPr>
              <a:spcBef>
                <a:spcPts val="200"/>
              </a:spcBef>
              <a:defRPr sz="1050">
                <a:solidFill>
                  <a:srgbClr val="0F172A"/>
                </a:solidFill>
                <a:latin typeface="Arial"/>
              </a:defRPr>
            </a:pPr>
            <a:r>
              <a:t>Card immediately displays a green 'JOINED' badge on the dashboard, tracking student membership across views.</a:t>
            </a:r>
          </a:p>
        </p:txBody>
      </p:sp>
      <p:sp>
        <p:nvSpPr>
          <p:cNvPr id="13" name="Rounded Rectangle 12"/>
          <p:cNvSpPr/>
          <p:nvPr/>
        </p:nvSpPr>
        <p:spPr>
          <a:xfrm>
            <a:off x="731520" y="3904487"/>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904487"/>
            <a:ext cx="109728" cy="1143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977639"/>
            <a:ext cx="5577840" cy="996696"/>
          </a:xfrm>
          <a:prstGeom prst="rect">
            <a:avLst/>
          </a:prstGeom>
          <a:noFill/>
        </p:spPr>
        <p:txBody>
          <a:bodyPr wrap="square">
            <a:spAutoFit/>
          </a:bodyPr>
          <a:lstStyle/>
          <a:p>
            <a:pPr>
              <a:defRPr sz="1300" b="1">
                <a:solidFill>
                  <a:srgbClr val="1E3A8A"/>
                </a:solidFill>
                <a:latin typeface="Arial"/>
              </a:defRPr>
            </a:pPr>
            <a:r>
              <a:t>3. Real-Time Popup Alerts</a:t>
            </a:r>
          </a:p>
          <a:p>
            <a:pPr>
              <a:spcBef>
                <a:spcPts val="200"/>
              </a:spcBef>
              <a:defRPr sz="1050">
                <a:solidFill>
                  <a:srgbClr val="0F172A"/>
                </a:solidFill>
                <a:latin typeface="Arial"/>
              </a:defRPr>
            </a:pPr>
            <a:r>
              <a:t>Displays a green toast alert: 'Success: You have joined [Club]!' auto-dismissed in 3 seconds.</a:t>
            </a:r>
          </a:p>
        </p:txBody>
      </p:sp>
      <p:sp>
        <p:nvSpPr>
          <p:cNvPr id="16" name="Rounded Rectangle 15"/>
          <p:cNvSpPr/>
          <p:nvPr/>
        </p:nvSpPr>
        <p:spPr>
          <a:xfrm>
            <a:off x="731520" y="5193792"/>
            <a:ext cx="594360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193792"/>
            <a:ext cx="109728" cy="1143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266944"/>
            <a:ext cx="5577840" cy="996696"/>
          </a:xfrm>
          <a:prstGeom prst="rect">
            <a:avLst/>
          </a:prstGeom>
          <a:noFill/>
        </p:spPr>
        <p:txBody>
          <a:bodyPr wrap="square">
            <a:spAutoFit/>
          </a:bodyPr>
          <a:lstStyle/>
          <a:p>
            <a:pPr>
              <a:defRPr sz="1300" b="1">
                <a:solidFill>
                  <a:srgbClr val="1E3A8A"/>
                </a:solidFill>
                <a:latin typeface="Arial"/>
              </a:defRPr>
            </a:pPr>
            <a:r>
              <a:t>4. Rigorous Verification</a:t>
            </a:r>
          </a:p>
          <a:p>
            <a:pPr>
              <a:spcBef>
                <a:spcPts val="200"/>
              </a:spcBef>
              <a:defRPr sz="1050">
                <a:solidFill>
                  <a:srgbClr val="0F172A"/>
                </a:solidFill>
                <a:latin typeface="Arial"/>
              </a:defRPr>
            </a:pPr>
            <a:r>
              <a:t>All 8 functional test cases PASS with 0 errors. Full alignment with college lab evaluation criteria.</a:t>
            </a:r>
          </a:p>
        </p:txBody>
      </p:sp>
      <p:sp>
        <p:nvSpPr>
          <p:cNvPr id="19" name="Rounded Rectangle 18"/>
          <p:cNvSpPr/>
          <p:nvPr/>
        </p:nvSpPr>
        <p:spPr>
          <a:xfrm>
            <a:off x="6858000" y="1325880"/>
            <a:ext cx="460217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995160" y="1463040"/>
            <a:ext cx="4327855" cy="38404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LIVE MEMBERSHIP STATUS</a:t>
            </a:r>
          </a:p>
        </p:txBody>
      </p:sp>
      <p:pic>
        <p:nvPicPr>
          <p:cNvPr id="21" name="Picture 20" descr="slide_img_joined.png"/>
          <p:cNvPicPr>
            <a:picLocks noChangeAspect="1"/>
          </p:cNvPicPr>
          <p:nvPr/>
        </p:nvPicPr>
        <p:blipFill>
          <a:blip r:embed="rId3"/>
          <a:stretch>
            <a:fillRect/>
          </a:stretch>
        </p:blipFill>
        <p:spPr>
          <a:xfrm>
            <a:off x="6995160" y="1947672"/>
            <a:ext cx="4327855" cy="3749039"/>
          </a:xfrm>
          <a:prstGeom prst="rect">
            <a:avLst/>
          </a:prstGeom>
        </p:spPr>
      </p:pic>
      <p:sp>
        <p:nvSpPr>
          <p:cNvPr id="22" name="Rounded Rectangle 21"/>
          <p:cNvSpPr/>
          <p:nvPr/>
        </p:nvSpPr>
        <p:spPr>
          <a:xfrm>
            <a:off x="6995160" y="5788152"/>
            <a:ext cx="4327855" cy="43891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D4ED8"/>
                </a:solidFill>
              </a:defRPr>
            </a:pPr>
            <a:r>
              <a:t>Joined Status Banner, Leave Button &amp; Live Member Count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