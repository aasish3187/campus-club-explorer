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faculty members and sir. Today I am presenting my React web application project titled 'Campus Club Explorer'. This application helps college students easily discover, filter, and join campus clubs that align with their interests.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Sir, on our campus we have many active clubs in coding, sports, arts, and entrepreneurship. However, students often don't know when they meet or who the coordinator is. Campus Club Explorer solves this by giving students a centralized, interactive directory.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has four core features: discovering all clubs in a grid layout, instant search and category filtering, an interactive modal popup showing full club details, and an interactive join button with instant notification feedback.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organized the project into modular components following React's unidirectional data flow. App.jsx acts as the parent holding the state, passing data down to child components like ClubCard and ClubModal as props.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Sir, one of the main concepts covered is Props and Component Reuse. Instead of writing separate HTML cards for every club, we created one reusable ClubCard component. App.jsx passes each club's details and callback functions down as props.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rendering lists, we use the .map() method. React requires a unique key prop, so we pass club.id. This helps React's Virtual DOM track exactly which card changed or needs re-rendering without redrawing the entire page.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search and filter UI evaluates both the active category button and the search text together. When you click 'Coding' and type 'AI', it matches both conditions instantly without refreshing the page.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Sir, we demonstrated Conditional Rendering in multiple places: showing the modal only when selectedClub is clicked, showing a 'No clubs found' box when a search has 0 matches, and displaying the 'Joined' badge when a student joins a club.</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styling, we used clean solid colors without gradients to keep it professional and easy to read. Cards have subtle hover elevation, and the modal has a backdrop blur for clean visual focus.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will now demonstrate the application live: as you can see, category filtering works seamlessly, search updates immediately, and clicking 'Join Club' triggers our toast notification and marks the card as joined.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Campus Club Explorer successfully meets all lab evaluation criteria while delivering a practical, real-world utility for university campuses. Thank you, and I am now open to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1148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97280"/>
            <a:ext cx="10362895" cy="1371600"/>
          </a:xfrm>
          <a:prstGeom prst="rect">
            <a:avLst/>
          </a:prstGeom>
          <a:noFill/>
        </p:spPr>
        <p:txBody>
          <a:bodyPr wrap="square">
            <a:spAutoFit/>
          </a:bodyPr>
          <a:lstStyle/>
          <a:p>
            <a:pPr>
              <a:defRPr sz="4600" b="1">
                <a:solidFill>
                  <a:srgbClr val="FFFFFF"/>
                </a:solidFill>
                <a:latin typeface="Arial"/>
              </a:defRPr>
            </a:pPr>
            <a:r>
              <a:t>Campus Club Explorer</a:t>
            </a:r>
          </a:p>
          <a:p>
            <a:pPr>
              <a:spcBef>
                <a:spcPts val="1400"/>
              </a:spcBef>
              <a:defRPr sz="2200">
                <a:solidFill>
                  <a:srgbClr val="BFDBFE"/>
                </a:solidFill>
                <a:latin typeface="Arial"/>
              </a:defRPr>
            </a:pPr>
            <a:r>
              <a:t>A React-Based Web Application for College Club Discovery &amp; Management</a:t>
            </a:r>
          </a:p>
        </p:txBody>
      </p:sp>
      <p:sp>
        <p:nvSpPr>
          <p:cNvPr id="5" name="TextBox 4"/>
          <p:cNvSpPr txBox="1"/>
          <p:nvPr/>
        </p:nvSpPr>
        <p:spPr>
          <a:xfrm>
            <a:off x="914400" y="4480560"/>
            <a:ext cx="10362895" cy="1828800"/>
          </a:xfrm>
          <a:prstGeom prst="rect">
            <a:avLst/>
          </a:prstGeom>
          <a:noFill/>
        </p:spPr>
        <p:txBody>
          <a:bodyPr wrap="square">
            <a:spAutoFit/>
          </a:bodyPr>
          <a:lstStyle/>
          <a:p>
            <a:pPr>
              <a:lnSpc>
                <a:spcPct val="130000"/>
              </a:lnSpc>
              <a:defRPr sz="1800" b="1">
                <a:solidFill>
                  <a:srgbClr val="0F172A"/>
                </a:solidFill>
                <a:latin typeface="Arial"/>
              </a:defRPr>
            </a:pPr>
            <a:r>
              <a:t>Department of Computer Science &amp; Engineering</a:t>
            </a:r>
            <a:br/>
            <a:r>
              <a:t>College Lab Training Assessment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728655" cy="731520"/>
          </a:xfrm>
          <a:prstGeom prst="rect">
            <a:avLst/>
          </a:prstGeom>
          <a:noFill/>
        </p:spPr>
        <p:txBody>
          <a:bodyPr wrap="square">
            <a:spAutoFit/>
          </a:bodyPr>
          <a:lstStyle/>
          <a:p>
            <a:pPr>
              <a:defRPr sz="3000" b="1">
                <a:solidFill>
                  <a:srgbClr val="FFFFFF"/>
                </a:solidFill>
                <a:latin typeface="Arial"/>
              </a:defRPr>
            </a:pPr>
            <a:r>
              <a:t>Problem Statement &amp; Campus Need</a:t>
            </a:r>
          </a:p>
        </p:txBody>
      </p:sp>
      <p:sp>
        <p:nvSpPr>
          <p:cNvPr id="5" name="Rounded Rectangle 4"/>
          <p:cNvSpPr/>
          <p:nvPr/>
        </p:nvSpPr>
        <p:spPr>
          <a:xfrm>
            <a:off x="731520" y="1417320"/>
            <a:ext cx="10728655" cy="115443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490472"/>
            <a:ext cx="10149840" cy="1008126"/>
          </a:xfrm>
          <a:prstGeom prst="rect">
            <a:avLst/>
          </a:prstGeom>
          <a:noFill/>
        </p:spPr>
        <p:txBody>
          <a:bodyPr wrap="square">
            <a:spAutoFit/>
          </a:bodyPr>
          <a:lstStyle/>
          <a:p>
            <a:pPr>
              <a:defRPr sz="1700" b="1">
                <a:solidFill>
                  <a:srgbClr val="1E3A8A"/>
                </a:solidFill>
                <a:latin typeface="Arial"/>
              </a:defRPr>
            </a:pPr>
            <a:r>
              <a:t>Fragmented Campus Information</a:t>
            </a:r>
          </a:p>
          <a:p>
            <a:pPr>
              <a:spcBef>
                <a:spcPts val="300"/>
              </a:spcBef>
              <a:defRPr sz="1400">
                <a:solidFill>
                  <a:srgbClr val="0F172A"/>
                </a:solidFill>
                <a:latin typeface="Arial"/>
              </a:defRPr>
            </a:pPr>
            <a:r>
              <a:t>Student clubs announce events across scattered noticeboards and messaging groups, causing low visibility.</a:t>
            </a:r>
          </a:p>
        </p:txBody>
      </p:sp>
      <p:sp>
        <p:nvSpPr>
          <p:cNvPr id="7" name="Rounded Rectangle 6"/>
          <p:cNvSpPr/>
          <p:nvPr/>
        </p:nvSpPr>
        <p:spPr>
          <a:xfrm>
            <a:off x="731520" y="2708910"/>
            <a:ext cx="10728655" cy="115443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782062"/>
            <a:ext cx="10149840" cy="1008126"/>
          </a:xfrm>
          <a:prstGeom prst="rect">
            <a:avLst/>
          </a:prstGeom>
          <a:noFill/>
        </p:spPr>
        <p:txBody>
          <a:bodyPr wrap="square">
            <a:spAutoFit/>
          </a:bodyPr>
          <a:lstStyle/>
          <a:p>
            <a:pPr>
              <a:defRPr sz="1700" b="1">
                <a:solidFill>
                  <a:srgbClr val="1E3A8A"/>
                </a:solidFill>
                <a:latin typeface="Arial"/>
              </a:defRPr>
            </a:pPr>
            <a:r>
              <a:t>Inaccessible Club Details</a:t>
            </a:r>
          </a:p>
          <a:p>
            <a:pPr>
              <a:spcBef>
                <a:spcPts val="300"/>
              </a:spcBef>
              <a:defRPr sz="1400">
                <a:solidFill>
                  <a:srgbClr val="0F172A"/>
                </a:solidFill>
                <a:latin typeface="Arial"/>
              </a:defRPr>
            </a:pPr>
            <a:r>
              <a:t>Students frequently lack information about meeting schedules, faculty advisors, and membership requirements.</a:t>
            </a:r>
          </a:p>
        </p:txBody>
      </p:sp>
      <p:sp>
        <p:nvSpPr>
          <p:cNvPr id="9" name="Rounded Rectangle 8"/>
          <p:cNvSpPr/>
          <p:nvPr/>
        </p:nvSpPr>
        <p:spPr>
          <a:xfrm>
            <a:off x="731520" y="4000500"/>
            <a:ext cx="10728655" cy="115443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073652"/>
            <a:ext cx="10149840" cy="1008126"/>
          </a:xfrm>
          <a:prstGeom prst="rect">
            <a:avLst/>
          </a:prstGeom>
          <a:noFill/>
        </p:spPr>
        <p:txBody>
          <a:bodyPr wrap="square">
            <a:spAutoFit/>
          </a:bodyPr>
          <a:lstStyle/>
          <a:p>
            <a:pPr>
              <a:defRPr sz="1700" b="1">
                <a:solidFill>
                  <a:srgbClr val="1E3A8A"/>
                </a:solidFill>
                <a:latin typeface="Arial"/>
              </a:defRPr>
            </a:pPr>
            <a:r>
              <a:t>Low Student Engagement</a:t>
            </a:r>
          </a:p>
          <a:p>
            <a:pPr>
              <a:spcBef>
                <a:spcPts val="300"/>
              </a:spcBef>
              <a:defRPr sz="1400">
                <a:solidFill>
                  <a:srgbClr val="0F172A"/>
                </a:solidFill>
                <a:latin typeface="Arial"/>
              </a:defRPr>
            </a:pPr>
            <a:r>
              <a:t>Without a centralized search portal, junior students struggle to find groups aligning with their interests.</a:t>
            </a:r>
          </a:p>
        </p:txBody>
      </p:sp>
      <p:sp>
        <p:nvSpPr>
          <p:cNvPr id="11" name="Rounded Rectangle 10"/>
          <p:cNvSpPr/>
          <p:nvPr/>
        </p:nvSpPr>
        <p:spPr>
          <a:xfrm>
            <a:off x="731520" y="5292090"/>
            <a:ext cx="10728655" cy="115443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365242"/>
            <a:ext cx="10149840" cy="1008126"/>
          </a:xfrm>
          <a:prstGeom prst="rect">
            <a:avLst/>
          </a:prstGeom>
          <a:noFill/>
        </p:spPr>
        <p:txBody>
          <a:bodyPr wrap="square">
            <a:spAutoFit/>
          </a:bodyPr>
          <a:lstStyle/>
          <a:p>
            <a:pPr>
              <a:defRPr sz="1700" b="1">
                <a:solidFill>
                  <a:srgbClr val="1E3A8A"/>
                </a:solidFill>
                <a:latin typeface="Arial"/>
              </a:defRPr>
            </a:pPr>
            <a:r>
              <a:t>The Solution: Campus Club Explorer</a:t>
            </a:r>
          </a:p>
          <a:p>
            <a:pPr>
              <a:spcBef>
                <a:spcPts val="300"/>
              </a:spcBef>
              <a:defRPr sz="1400">
                <a:solidFill>
                  <a:srgbClr val="0F172A"/>
                </a:solidFill>
                <a:latin typeface="Arial"/>
              </a:defRPr>
            </a:pPr>
            <a:r>
              <a:t>A modern, single-page React application providing an interactive real-time directory for all college clubs.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728655" cy="731520"/>
          </a:xfrm>
          <a:prstGeom prst="rect">
            <a:avLst/>
          </a:prstGeom>
          <a:noFill/>
        </p:spPr>
        <p:txBody>
          <a:bodyPr wrap="square">
            <a:spAutoFit/>
          </a:bodyPr>
          <a:lstStyle/>
          <a:p>
            <a:pPr>
              <a:defRPr sz="3000" b="1">
                <a:solidFill>
                  <a:srgbClr val="FFFFFF"/>
                </a:solidFill>
                <a:latin typeface="Arial"/>
              </a:defRPr>
            </a:pPr>
            <a:r>
              <a:t>Project Objectives &amp; Core Features</a:t>
            </a:r>
          </a:p>
        </p:txBody>
      </p:sp>
      <p:sp>
        <p:nvSpPr>
          <p:cNvPr id="5" name="Rounded Rectangle 4"/>
          <p:cNvSpPr/>
          <p:nvPr/>
        </p:nvSpPr>
        <p:spPr>
          <a:xfrm>
            <a:off x="731520" y="1417320"/>
            <a:ext cx="10728655" cy="896112"/>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490472"/>
            <a:ext cx="10149840" cy="749808"/>
          </a:xfrm>
          <a:prstGeom prst="rect">
            <a:avLst/>
          </a:prstGeom>
          <a:noFill/>
        </p:spPr>
        <p:txBody>
          <a:bodyPr wrap="square">
            <a:spAutoFit/>
          </a:bodyPr>
          <a:lstStyle/>
          <a:p>
            <a:pPr>
              <a:defRPr sz="1700" b="1">
                <a:solidFill>
                  <a:srgbClr val="1E3A8A"/>
                </a:solidFill>
                <a:latin typeface="Arial"/>
              </a:defRPr>
            </a:pPr>
            <a:r>
              <a:t>Multi-Category Discovery</a:t>
            </a:r>
          </a:p>
          <a:p>
            <a:pPr>
              <a:spcBef>
                <a:spcPts val="300"/>
              </a:spcBef>
              <a:defRPr sz="1400">
                <a:solidFill>
                  <a:srgbClr val="0F172A"/>
                </a:solidFill>
                <a:latin typeface="Arial"/>
              </a:defRPr>
            </a:pPr>
            <a:r>
              <a:t>Organizes campus clubs into Coding, Sports, Arts, and Entrepreneurship domains.</a:t>
            </a:r>
          </a:p>
        </p:txBody>
      </p:sp>
      <p:sp>
        <p:nvSpPr>
          <p:cNvPr id="7" name="Rounded Rectangle 6"/>
          <p:cNvSpPr/>
          <p:nvPr/>
        </p:nvSpPr>
        <p:spPr>
          <a:xfrm>
            <a:off x="731520" y="2450592"/>
            <a:ext cx="10728655" cy="896112"/>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523744"/>
            <a:ext cx="10149840" cy="749808"/>
          </a:xfrm>
          <a:prstGeom prst="rect">
            <a:avLst/>
          </a:prstGeom>
          <a:noFill/>
        </p:spPr>
        <p:txBody>
          <a:bodyPr wrap="square">
            <a:spAutoFit/>
          </a:bodyPr>
          <a:lstStyle/>
          <a:p>
            <a:pPr>
              <a:defRPr sz="1700" b="1">
                <a:solidFill>
                  <a:srgbClr val="1E3A8A"/>
                </a:solidFill>
                <a:latin typeface="Arial"/>
              </a:defRPr>
            </a:pPr>
            <a:r>
              <a:t>Dynamic Search &amp; Filter UI</a:t>
            </a:r>
          </a:p>
          <a:p>
            <a:pPr>
              <a:spcBef>
                <a:spcPts val="300"/>
              </a:spcBef>
              <a:defRPr sz="1400">
                <a:solidFill>
                  <a:srgbClr val="0F172A"/>
                </a:solidFill>
                <a:latin typeface="Arial"/>
              </a:defRPr>
            </a:pPr>
            <a:r>
              <a:t>Real-time keyword search combined with instant category pill filtering without page reloads.</a:t>
            </a:r>
          </a:p>
        </p:txBody>
      </p:sp>
      <p:sp>
        <p:nvSpPr>
          <p:cNvPr id="9" name="Rounded Rectangle 8"/>
          <p:cNvSpPr/>
          <p:nvPr/>
        </p:nvSpPr>
        <p:spPr>
          <a:xfrm>
            <a:off x="731520" y="3483864"/>
            <a:ext cx="10728655" cy="896112"/>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557016"/>
            <a:ext cx="10149840" cy="749808"/>
          </a:xfrm>
          <a:prstGeom prst="rect">
            <a:avLst/>
          </a:prstGeom>
          <a:noFill/>
        </p:spPr>
        <p:txBody>
          <a:bodyPr wrap="square">
            <a:spAutoFit/>
          </a:bodyPr>
          <a:lstStyle/>
          <a:p>
            <a:pPr>
              <a:defRPr sz="1700" b="1">
                <a:solidFill>
                  <a:srgbClr val="1E3A8A"/>
                </a:solidFill>
                <a:latin typeface="Arial"/>
              </a:defRPr>
            </a:pPr>
            <a:r>
              <a:t>Detailed Information Modal</a:t>
            </a:r>
          </a:p>
          <a:p>
            <a:pPr>
              <a:spcBef>
                <a:spcPts val="300"/>
              </a:spcBef>
              <a:defRPr sz="1400">
                <a:solidFill>
                  <a:srgbClr val="0F172A"/>
                </a:solidFill>
                <a:latin typeface="Arial"/>
              </a:defRPr>
            </a:pPr>
            <a:r>
              <a:t>Popup dialog displaying weekly meeting times, faculty advisors, and active activities.</a:t>
            </a:r>
          </a:p>
        </p:txBody>
      </p:sp>
      <p:sp>
        <p:nvSpPr>
          <p:cNvPr id="11" name="Rounded Rectangle 10"/>
          <p:cNvSpPr/>
          <p:nvPr/>
        </p:nvSpPr>
        <p:spPr>
          <a:xfrm>
            <a:off x="731520" y="4517136"/>
            <a:ext cx="10728655" cy="896112"/>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590288"/>
            <a:ext cx="10149840" cy="749808"/>
          </a:xfrm>
          <a:prstGeom prst="rect">
            <a:avLst/>
          </a:prstGeom>
          <a:noFill/>
        </p:spPr>
        <p:txBody>
          <a:bodyPr wrap="square">
            <a:spAutoFit/>
          </a:bodyPr>
          <a:lstStyle/>
          <a:p>
            <a:pPr>
              <a:defRPr sz="1700" b="1">
                <a:solidFill>
                  <a:srgbClr val="1E3A8A"/>
                </a:solidFill>
                <a:latin typeface="Arial"/>
              </a:defRPr>
            </a:pPr>
            <a:r>
              <a:t>Interactive Membership Management</a:t>
            </a:r>
          </a:p>
          <a:p>
            <a:pPr>
              <a:spcBef>
                <a:spcPts val="300"/>
              </a:spcBef>
              <a:defRPr sz="1400">
                <a:solidFill>
                  <a:srgbClr val="0F172A"/>
                </a:solidFill>
                <a:latin typeface="Arial"/>
              </a:defRPr>
            </a:pPr>
            <a:r>
              <a:t>Students can Join or Leave clubs with live member count increments, 'Joined' badges, and toast alerts.</a:t>
            </a:r>
          </a:p>
        </p:txBody>
      </p:sp>
      <p:sp>
        <p:nvSpPr>
          <p:cNvPr id="13" name="Rounded Rectangle 12"/>
          <p:cNvSpPr/>
          <p:nvPr/>
        </p:nvSpPr>
        <p:spPr>
          <a:xfrm>
            <a:off x="731520" y="5550408"/>
            <a:ext cx="10728655" cy="896112"/>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623560"/>
            <a:ext cx="10149840" cy="749808"/>
          </a:xfrm>
          <a:prstGeom prst="rect">
            <a:avLst/>
          </a:prstGeom>
          <a:noFill/>
        </p:spPr>
        <p:txBody>
          <a:bodyPr wrap="square">
            <a:spAutoFit/>
          </a:bodyPr>
          <a:lstStyle/>
          <a:p>
            <a:pPr>
              <a:defRPr sz="1700" b="1">
                <a:solidFill>
                  <a:srgbClr val="1E3A8A"/>
                </a:solidFill>
                <a:latin typeface="Arial"/>
              </a:defRPr>
            </a:pPr>
            <a:r>
              <a:t>Demonstration of Core React Principles</a:t>
            </a:r>
          </a:p>
          <a:p>
            <a:pPr>
              <a:spcBef>
                <a:spcPts val="300"/>
              </a:spcBef>
              <a:defRPr sz="1400">
                <a:solidFill>
                  <a:srgbClr val="0F172A"/>
                </a:solidFill>
                <a:latin typeface="Arial"/>
              </a:defRPr>
            </a:pPr>
            <a:r>
              <a:t>Covers Props, Lists &amp; Keys, Conditional Rendering, and Component Reuse.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728655" cy="731520"/>
          </a:xfrm>
          <a:prstGeom prst="rect">
            <a:avLst/>
          </a:prstGeom>
          <a:noFill/>
        </p:spPr>
        <p:txBody>
          <a:bodyPr wrap="square">
            <a:spAutoFit/>
          </a:bodyPr>
          <a:lstStyle/>
          <a:p>
            <a:pPr>
              <a:defRPr sz="3000" b="1">
                <a:solidFill>
                  <a:srgbClr val="FFFFFF"/>
                </a:solidFill>
                <a:latin typeface="Arial"/>
              </a:defRPr>
            </a:pPr>
            <a:r>
              <a:t>Technology Stack &amp; Architecture</a:t>
            </a:r>
          </a:p>
        </p:txBody>
      </p:sp>
      <p:sp>
        <p:nvSpPr>
          <p:cNvPr id="5" name="Rounded Rectangle 4"/>
          <p:cNvSpPr/>
          <p:nvPr/>
        </p:nvSpPr>
        <p:spPr>
          <a:xfrm>
            <a:off x="731520" y="1417320"/>
            <a:ext cx="10728655" cy="896112"/>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490472"/>
            <a:ext cx="10149840" cy="749808"/>
          </a:xfrm>
          <a:prstGeom prst="rect">
            <a:avLst/>
          </a:prstGeom>
          <a:noFill/>
        </p:spPr>
        <p:txBody>
          <a:bodyPr wrap="square">
            <a:spAutoFit/>
          </a:bodyPr>
          <a:lstStyle/>
          <a:p>
            <a:pPr>
              <a:defRPr sz="1700" b="1">
                <a:solidFill>
                  <a:srgbClr val="1E3A8A"/>
                </a:solidFill>
                <a:latin typeface="Arial"/>
              </a:defRPr>
            </a:pPr>
            <a:r>
              <a:t>Vite Build Engine</a:t>
            </a:r>
          </a:p>
          <a:p>
            <a:pPr>
              <a:spcBef>
                <a:spcPts val="300"/>
              </a:spcBef>
              <a:defRPr sz="1400">
                <a:solidFill>
                  <a:srgbClr val="0F172A"/>
                </a:solidFill>
                <a:latin typeface="Arial"/>
              </a:defRPr>
            </a:pPr>
            <a:r>
              <a:t>High-performance modern dev server with sub-second hot module replacement (HMR).</a:t>
            </a:r>
          </a:p>
        </p:txBody>
      </p:sp>
      <p:sp>
        <p:nvSpPr>
          <p:cNvPr id="7" name="Rounded Rectangle 6"/>
          <p:cNvSpPr/>
          <p:nvPr/>
        </p:nvSpPr>
        <p:spPr>
          <a:xfrm>
            <a:off x="731520" y="2450592"/>
            <a:ext cx="10728655" cy="896112"/>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523744"/>
            <a:ext cx="10149840" cy="749808"/>
          </a:xfrm>
          <a:prstGeom prst="rect">
            <a:avLst/>
          </a:prstGeom>
          <a:noFill/>
        </p:spPr>
        <p:txBody>
          <a:bodyPr wrap="square">
            <a:spAutoFit/>
          </a:bodyPr>
          <a:lstStyle/>
          <a:p>
            <a:pPr>
              <a:defRPr sz="1700" b="1">
                <a:solidFill>
                  <a:srgbClr val="1E3A8A"/>
                </a:solidFill>
                <a:latin typeface="Arial"/>
              </a:defRPr>
            </a:pPr>
            <a:r>
              <a:t>React 18 Architecture</a:t>
            </a:r>
          </a:p>
          <a:p>
            <a:pPr>
              <a:spcBef>
                <a:spcPts val="300"/>
              </a:spcBef>
              <a:defRPr sz="1400">
                <a:solidFill>
                  <a:srgbClr val="0F172A"/>
                </a:solidFill>
                <a:latin typeface="Arial"/>
              </a:defRPr>
            </a:pPr>
            <a:r>
              <a:t>Functional components utilizing React Hooks (useState) for reactive state management.</a:t>
            </a:r>
          </a:p>
        </p:txBody>
      </p:sp>
      <p:sp>
        <p:nvSpPr>
          <p:cNvPr id="9" name="Rounded Rectangle 8"/>
          <p:cNvSpPr/>
          <p:nvPr/>
        </p:nvSpPr>
        <p:spPr>
          <a:xfrm>
            <a:off x="731520" y="3483864"/>
            <a:ext cx="10728655" cy="896112"/>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557016"/>
            <a:ext cx="10149840" cy="749808"/>
          </a:xfrm>
          <a:prstGeom prst="rect">
            <a:avLst/>
          </a:prstGeom>
          <a:noFill/>
        </p:spPr>
        <p:txBody>
          <a:bodyPr wrap="square">
            <a:spAutoFit/>
          </a:bodyPr>
          <a:lstStyle/>
          <a:p>
            <a:pPr>
              <a:defRPr sz="1700" b="1">
                <a:solidFill>
                  <a:srgbClr val="1E3A8A"/>
                </a:solidFill>
                <a:latin typeface="Arial"/>
              </a:defRPr>
            </a:pPr>
            <a:r>
              <a:t>Solid Color Styling</a:t>
            </a:r>
          </a:p>
          <a:p>
            <a:pPr>
              <a:spcBef>
                <a:spcPts val="300"/>
              </a:spcBef>
              <a:defRPr sz="1400">
                <a:solidFill>
                  <a:srgbClr val="0F172A"/>
                </a:solidFill>
                <a:latin typeface="Arial"/>
              </a:defRPr>
            </a:pPr>
            <a:r>
              <a:t>Clean CSS3 design system using solid navy, slate, and category accents (zero gradients).</a:t>
            </a:r>
          </a:p>
        </p:txBody>
      </p:sp>
      <p:sp>
        <p:nvSpPr>
          <p:cNvPr id="11" name="Rounded Rectangle 10"/>
          <p:cNvSpPr/>
          <p:nvPr/>
        </p:nvSpPr>
        <p:spPr>
          <a:xfrm>
            <a:off x="731520" y="4517136"/>
            <a:ext cx="10728655" cy="896112"/>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590288"/>
            <a:ext cx="10149840" cy="749808"/>
          </a:xfrm>
          <a:prstGeom prst="rect">
            <a:avLst/>
          </a:prstGeom>
          <a:noFill/>
        </p:spPr>
        <p:txBody>
          <a:bodyPr wrap="square">
            <a:spAutoFit/>
          </a:bodyPr>
          <a:lstStyle/>
          <a:p>
            <a:pPr>
              <a:defRPr sz="1700" b="1">
                <a:solidFill>
                  <a:srgbClr val="1E3A8A"/>
                </a:solidFill>
                <a:latin typeface="Arial"/>
              </a:defRPr>
            </a:pPr>
            <a:r>
              <a:t>Unidirectional Data Flow</a:t>
            </a:r>
          </a:p>
          <a:p>
            <a:pPr>
              <a:spcBef>
                <a:spcPts val="300"/>
              </a:spcBef>
              <a:defRPr sz="1400">
                <a:solidFill>
                  <a:srgbClr val="0F172A"/>
                </a:solidFill>
                <a:latin typeface="Arial"/>
              </a:defRPr>
            </a:pPr>
            <a:r>
              <a:t>App.jsx serves as the single source of truth, passing props down and receiving user actions via callbacks.</a:t>
            </a:r>
          </a:p>
        </p:txBody>
      </p:sp>
      <p:sp>
        <p:nvSpPr>
          <p:cNvPr id="13" name="Rounded Rectangle 12"/>
          <p:cNvSpPr/>
          <p:nvPr/>
        </p:nvSpPr>
        <p:spPr>
          <a:xfrm>
            <a:off x="731520" y="5550408"/>
            <a:ext cx="10728655" cy="896112"/>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623560"/>
            <a:ext cx="10149840" cy="749808"/>
          </a:xfrm>
          <a:prstGeom prst="rect">
            <a:avLst/>
          </a:prstGeom>
          <a:noFill/>
        </p:spPr>
        <p:txBody>
          <a:bodyPr wrap="square">
            <a:spAutoFit/>
          </a:bodyPr>
          <a:lstStyle/>
          <a:p>
            <a:pPr>
              <a:defRPr sz="1700" b="1">
                <a:solidFill>
                  <a:srgbClr val="1E3A8A"/>
                </a:solidFill>
                <a:latin typeface="Arial"/>
              </a:defRPr>
            </a:pPr>
            <a:r>
              <a:t>Modular Component Hierarchy</a:t>
            </a:r>
          </a:p>
          <a:p>
            <a:pPr>
              <a:spcBef>
                <a:spcPts val="300"/>
              </a:spcBef>
              <a:defRPr sz="1400">
                <a:solidFill>
                  <a:srgbClr val="0F172A"/>
                </a:solidFill>
                <a:latin typeface="Arial"/>
              </a:defRPr>
            </a:pPr>
            <a:r>
              <a:t>Separation of concerns between Navbar, SearchFilter, ClubCard, ClubModal, and Mock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728655" cy="731520"/>
          </a:xfrm>
          <a:prstGeom prst="rect">
            <a:avLst/>
          </a:prstGeom>
          <a:noFill/>
        </p:spPr>
        <p:txBody>
          <a:bodyPr wrap="square">
            <a:spAutoFit/>
          </a:bodyPr>
          <a:lstStyle/>
          <a:p>
            <a:pPr>
              <a:defRPr sz="3000" b="1">
                <a:solidFill>
                  <a:srgbClr val="FFFFFF"/>
                </a:solidFill>
                <a:latin typeface="Arial"/>
              </a:defRPr>
            </a:pPr>
            <a:r>
              <a:t>React Concept 1: Props &amp; Component Reuse</a:t>
            </a:r>
          </a:p>
        </p:txBody>
      </p:sp>
      <p:sp>
        <p:nvSpPr>
          <p:cNvPr id="5" name="Rounded Rectangle 4"/>
          <p:cNvSpPr/>
          <p:nvPr/>
        </p:nvSpPr>
        <p:spPr>
          <a:xfrm>
            <a:off x="731520" y="1417320"/>
            <a:ext cx="10728655" cy="115443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490472"/>
            <a:ext cx="10149840" cy="1008126"/>
          </a:xfrm>
          <a:prstGeom prst="rect">
            <a:avLst/>
          </a:prstGeom>
          <a:noFill/>
        </p:spPr>
        <p:txBody>
          <a:bodyPr wrap="square">
            <a:spAutoFit/>
          </a:bodyPr>
          <a:lstStyle/>
          <a:p>
            <a:pPr>
              <a:defRPr sz="1700" b="1">
                <a:solidFill>
                  <a:srgbClr val="1E3A8A"/>
                </a:solidFill>
                <a:latin typeface="Arial"/>
              </a:defRPr>
            </a:pPr>
            <a:r>
              <a:t>Concept: Props (Properties)</a:t>
            </a:r>
          </a:p>
          <a:p>
            <a:pPr>
              <a:spcBef>
                <a:spcPts val="300"/>
              </a:spcBef>
              <a:defRPr sz="1400">
                <a:solidFill>
                  <a:srgbClr val="0F172A"/>
                </a:solidFill>
                <a:latin typeface="Arial"/>
              </a:defRPr>
            </a:pPr>
            <a:r>
              <a:t>Props are read-only inputs passed from a parent component down to child components to render data dynamically.</a:t>
            </a:r>
          </a:p>
        </p:txBody>
      </p:sp>
      <p:sp>
        <p:nvSpPr>
          <p:cNvPr id="7" name="Rounded Rectangle 6"/>
          <p:cNvSpPr/>
          <p:nvPr/>
        </p:nvSpPr>
        <p:spPr>
          <a:xfrm>
            <a:off x="731520" y="2708910"/>
            <a:ext cx="10728655" cy="115443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782062"/>
            <a:ext cx="10149840" cy="1008126"/>
          </a:xfrm>
          <a:prstGeom prst="rect">
            <a:avLst/>
          </a:prstGeom>
          <a:noFill/>
        </p:spPr>
        <p:txBody>
          <a:bodyPr wrap="square">
            <a:spAutoFit/>
          </a:bodyPr>
          <a:lstStyle/>
          <a:p>
            <a:pPr>
              <a:defRPr sz="1700" b="1">
                <a:solidFill>
                  <a:srgbClr val="1E3A8A"/>
                </a:solidFill>
                <a:latin typeface="Arial"/>
              </a:defRPr>
            </a:pPr>
            <a:r>
              <a:t>Implementation in Project</a:t>
            </a:r>
          </a:p>
          <a:p>
            <a:pPr>
              <a:spcBef>
                <a:spcPts val="300"/>
              </a:spcBef>
              <a:defRPr sz="1400">
                <a:solidFill>
                  <a:srgbClr val="0F172A"/>
                </a:solidFill>
                <a:latin typeface="Arial"/>
              </a:defRPr>
            </a:pPr>
            <a:r>
              <a:t>App.jsx passes each club object, the isJoined boolean flag, and the onViewDetails callback into ClubCard.</a:t>
            </a:r>
          </a:p>
        </p:txBody>
      </p:sp>
      <p:sp>
        <p:nvSpPr>
          <p:cNvPr id="9" name="Rounded Rectangle 8"/>
          <p:cNvSpPr/>
          <p:nvPr/>
        </p:nvSpPr>
        <p:spPr>
          <a:xfrm>
            <a:off x="731520" y="4000500"/>
            <a:ext cx="10728655" cy="115443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073652"/>
            <a:ext cx="10149840" cy="1008126"/>
          </a:xfrm>
          <a:prstGeom prst="rect">
            <a:avLst/>
          </a:prstGeom>
          <a:noFill/>
        </p:spPr>
        <p:txBody>
          <a:bodyPr wrap="square">
            <a:spAutoFit/>
          </a:bodyPr>
          <a:lstStyle/>
          <a:p>
            <a:pPr>
              <a:defRPr sz="1700" b="1">
                <a:solidFill>
                  <a:srgbClr val="1E3A8A"/>
                </a:solidFill>
                <a:latin typeface="Arial"/>
              </a:defRPr>
            </a:pPr>
            <a:r>
              <a:t>Concept: Component Reuse</a:t>
            </a:r>
          </a:p>
          <a:p>
            <a:pPr>
              <a:spcBef>
                <a:spcPts val="300"/>
              </a:spcBef>
              <a:defRPr sz="1400">
                <a:solidFill>
                  <a:srgbClr val="0F172A"/>
                </a:solidFill>
                <a:latin typeface="Arial"/>
              </a:defRPr>
            </a:pPr>
            <a:r>
              <a:t>Writing a component definition once and reusing it multiple times across different data records.</a:t>
            </a:r>
          </a:p>
        </p:txBody>
      </p:sp>
      <p:sp>
        <p:nvSpPr>
          <p:cNvPr id="11" name="Rounded Rectangle 10"/>
          <p:cNvSpPr/>
          <p:nvPr/>
        </p:nvSpPr>
        <p:spPr>
          <a:xfrm>
            <a:off x="731520" y="5292090"/>
            <a:ext cx="10728655" cy="115443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365242"/>
            <a:ext cx="10149840" cy="1008126"/>
          </a:xfrm>
          <a:prstGeom prst="rect">
            <a:avLst/>
          </a:prstGeom>
          <a:noFill/>
        </p:spPr>
        <p:txBody>
          <a:bodyPr wrap="square">
            <a:spAutoFit/>
          </a:bodyPr>
          <a:lstStyle/>
          <a:p>
            <a:pPr>
              <a:defRPr sz="1700" b="1">
                <a:solidFill>
                  <a:srgbClr val="1E3A8A"/>
                </a:solidFill>
                <a:latin typeface="Arial"/>
              </a:defRPr>
            </a:pPr>
            <a:r>
              <a:t>Project Benefit</a:t>
            </a:r>
          </a:p>
          <a:p>
            <a:pPr>
              <a:spcBef>
                <a:spcPts val="300"/>
              </a:spcBef>
              <a:defRPr sz="1400">
                <a:solidFill>
                  <a:srgbClr val="0F172A"/>
                </a:solidFill>
                <a:latin typeface="Arial"/>
              </a:defRPr>
            </a:pPr>
            <a:r>
              <a:t>A single ClubCard component is authored once and reused across all 8 campus clubs with zero duplicate markup.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728655" cy="731520"/>
          </a:xfrm>
          <a:prstGeom prst="rect">
            <a:avLst/>
          </a:prstGeom>
          <a:noFill/>
        </p:spPr>
        <p:txBody>
          <a:bodyPr wrap="square">
            <a:spAutoFit/>
          </a:bodyPr>
          <a:lstStyle/>
          <a:p>
            <a:pPr>
              <a:defRPr sz="3000" b="1">
                <a:solidFill>
                  <a:srgbClr val="FFFFFF"/>
                </a:solidFill>
                <a:latin typeface="Arial"/>
              </a:defRPr>
            </a:pPr>
            <a:r>
              <a:t>React Concept 2: Lists &amp; Keys</a:t>
            </a:r>
          </a:p>
        </p:txBody>
      </p:sp>
      <p:sp>
        <p:nvSpPr>
          <p:cNvPr id="5" name="Rounded Rectangle 4"/>
          <p:cNvSpPr/>
          <p:nvPr/>
        </p:nvSpPr>
        <p:spPr>
          <a:xfrm>
            <a:off x="731520" y="1417320"/>
            <a:ext cx="10728655" cy="115443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490472"/>
            <a:ext cx="10149840" cy="1008126"/>
          </a:xfrm>
          <a:prstGeom prst="rect">
            <a:avLst/>
          </a:prstGeom>
          <a:noFill/>
        </p:spPr>
        <p:txBody>
          <a:bodyPr wrap="square">
            <a:spAutoFit/>
          </a:bodyPr>
          <a:lstStyle/>
          <a:p>
            <a:pPr>
              <a:defRPr sz="1700" b="1">
                <a:solidFill>
                  <a:srgbClr val="1E3A8A"/>
                </a:solidFill>
                <a:latin typeface="Arial"/>
              </a:defRPr>
            </a:pPr>
            <a:r>
              <a:t>Array Mapping with .map()</a:t>
            </a:r>
          </a:p>
          <a:p>
            <a:pPr>
              <a:spcBef>
                <a:spcPts val="300"/>
              </a:spcBef>
              <a:defRPr sz="1400">
                <a:solidFill>
                  <a:srgbClr val="0F172A"/>
                </a:solidFill>
                <a:latin typeface="Arial"/>
              </a:defRPr>
            </a:pPr>
            <a:r>
              <a:t>JavaScript's .map() iterates through the filtered clubs array, returning a ClubCard for each item.</a:t>
            </a:r>
          </a:p>
        </p:txBody>
      </p:sp>
      <p:sp>
        <p:nvSpPr>
          <p:cNvPr id="7" name="Rounded Rectangle 6"/>
          <p:cNvSpPr/>
          <p:nvPr/>
        </p:nvSpPr>
        <p:spPr>
          <a:xfrm>
            <a:off x="731520" y="2708910"/>
            <a:ext cx="10728655" cy="115443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782062"/>
            <a:ext cx="10149840" cy="1008126"/>
          </a:xfrm>
          <a:prstGeom prst="rect">
            <a:avLst/>
          </a:prstGeom>
          <a:noFill/>
        </p:spPr>
        <p:txBody>
          <a:bodyPr wrap="square">
            <a:spAutoFit/>
          </a:bodyPr>
          <a:lstStyle/>
          <a:p>
            <a:pPr>
              <a:defRPr sz="1700" b="1">
                <a:solidFill>
                  <a:srgbClr val="1E3A8A"/>
                </a:solidFill>
                <a:latin typeface="Arial"/>
              </a:defRPr>
            </a:pPr>
            <a:r>
              <a:t>The Unique 'key' Prop</a:t>
            </a:r>
          </a:p>
          <a:p>
            <a:pPr>
              <a:spcBef>
                <a:spcPts val="300"/>
              </a:spcBef>
              <a:defRPr sz="1400">
                <a:solidFill>
                  <a:srgbClr val="0F172A"/>
                </a:solidFill>
                <a:latin typeface="Arial"/>
              </a:defRPr>
            </a:pPr>
            <a:r>
              <a:t>Each rendered component receives key={club.id} using the club's permanent unique numerical identifier.</a:t>
            </a:r>
          </a:p>
        </p:txBody>
      </p:sp>
      <p:sp>
        <p:nvSpPr>
          <p:cNvPr id="9" name="Rounded Rectangle 8"/>
          <p:cNvSpPr/>
          <p:nvPr/>
        </p:nvSpPr>
        <p:spPr>
          <a:xfrm>
            <a:off x="731520" y="4000500"/>
            <a:ext cx="10728655" cy="115443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073652"/>
            <a:ext cx="10149840" cy="1008126"/>
          </a:xfrm>
          <a:prstGeom prst="rect">
            <a:avLst/>
          </a:prstGeom>
          <a:noFill/>
        </p:spPr>
        <p:txBody>
          <a:bodyPr wrap="square">
            <a:spAutoFit/>
          </a:bodyPr>
          <a:lstStyle/>
          <a:p>
            <a:pPr>
              <a:defRPr sz="1700" b="1">
                <a:solidFill>
                  <a:srgbClr val="1E3A8A"/>
                </a:solidFill>
                <a:latin typeface="Arial"/>
              </a:defRPr>
            </a:pPr>
            <a:r>
              <a:t>Virtual DOM Optimization</a:t>
            </a:r>
          </a:p>
          <a:p>
            <a:pPr>
              <a:spcBef>
                <a:spcPts val="300"/>
              </a:spcBef>
              <a:defRPr sz="1400">
                <a:solidFill>
                  <a:srgbClr val="0F172A"/>
                </a:solidFill>
                <a:latin typeface="Arial"/>
              </a:defRPr>
            </a:pPr>
            <a:r>
              <a:t>The key prop allows React's reconciliation algorithm to identify exactly which items change or re-order.</a:t>
            </a:r>
          </a:p>
        </p:txBody>
      </p:sp>
      <p:sp>
        <p:nvSpPr>
          <p:cNvPr id="11" name="Rounded Rectangle 10"/>
          <p:cNvSpPr/>
          <p:nvPr/>
        </p:nvSpPr>
        <p:spPr>
          <a:xfrm>
            <a:off x="731520" y="5292090"/>
            <a:ext cx="10728655" cy="115443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365242"/>
            <a:ext cx="10149840" cy="1008126"/>
          </a:xfrm>
          <a:prstGeom prst="rect">
            <a:avLst/>
          </a:prstGeom>
          <a:noFill/>
        </p:spPr>
        <p:txBody>
          <a:bodyPr wrap="square">
            <a:spAutoFit/>
          </a:bodyPr>
          <a:lstStyle/>
          <a:p>
            <a:pPr>
              <a:defRPr sz="1700" b="1">
                <a:solidFill>
                  <a:srgbClr val="1E3A8A"/>
                </a:solidFill>
                <a:latin typeface="Arial"/>
              </a:defRPr>
            </a:pPr>
            <a:r>
              <a:t>Efficiency</a:t>
            </a:r>
          </a:p>
          <a:p>
            <a:pPr>
              <a:spcBef>
                <a:spcPts val="300"/>
              </a:spcBef>
              <a:defRPr sz="1400">
                <a:solidFill>
                  <a:srgbClr val="0F172A"/>
                </a:solidFill>
                <a:latin typeface="Arial"/>
              </a:defRPr>
            </a:pPr>
            <a:r>
              <a:t>Prevents full list re-renders when a single club is joined or filtered, ensuring optimal UI performance.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728655" cy="731520"/>
          </a:xfrm>
          <a:prstGeom prst="rect">
            <a:avLst/>
          </a:prstGeom>
          <a:noFill/>
        </p:spPr>
        <p:txBody>
          <a:bodyPr wrap="square">
            <a:spAutoFit/>
          </a:bodyPr>
          <a:lstStyle/>
          <a:p>
            <a:pPr>
              <a:defRPr sz="3000" b="1">
                <a:solidFill>
                  <a:srgbClr val="FFFFFF"/>
                </a:solidFill>
                <a:latin typeface="Arial"/>
              </a:defRPr>
            </a:pPr>
            <a:r>
              <a:t>React Concept 3: Search &amp; Filter Logic</a:t>
            </a:r>
          </a:p>
        </p:txBody>
      </p:sp>
      <p:sp>
        <p:nvSpPr>
          <p:cNvPr id="5" name="Rounded Rectangle 4"/>
          <p:cNvSpPr/>
          <p:nvPr/>
        </p:nvSpPr>
        <p:spPr>
          <a:xfrm>
            <a:off x="731520" y="1417320"/>
            <a:ext cx="10728655" cy="115443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490472"/>
            <a:ext cx="10149840" cy="1008126"/>
          </a:xfrm>
          <a:prstGeom prst="rect">
            <a:avLst/>
          </a:prstGeom>
          <a:noFill/>
        </p:spPr>
        <p:txBody>
          <a:bodyPr wrap="square">
            <a:spAutoFit/>
          </a:bodyPr>
          <a:lstStyle/>
          <a:p>
            <a:pPr>
              <a:defRPr sz="1700" b="1">
                <a:solidFill>
                  <a:srgbClr val="1E3A8A"/>
                </a:solidFill>
                <a:latin typeface="Arial"/>
              </a:defRPr>
            </a:pPr>
            <a:r>
              <a:t>Controlled React State</a:t>
            </a:r>
          </a:p>
          <a:p>
            <a:pPr>
              <a:spcBef>
                <a:spcPts val="300"/>
              </a:spcBef>
              <a:defRPr sz="1400">
                <a:solidFill>
                  <a:srgbClr val="0F172A"/>
                </a:solidFill>
                <a:latin typeface="Arial"/>
              </a:defRPr>
            </a:pPr>
            <a:r>
              <a:t>searchQuery and selectedCategory are managed in parent state using the useState hook.</a:t>
            </a:r>
          </a:p>
        </p:txBody>
      </p:sp>
      <p:sp>
        <p:nvSpPr>
          <p:cNvPr id="7" name="Rounded Rectangle 6"/>
          <p:cNvSpPr/>
          <p:nvPr/>
        </p:nvSpPr>
        <p:spPr>
          <a:xfrm>
            <a:off x="731520" y="2708910"/>
            <a:ext cx="10728655" cy="115443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782062"/>
            <a:ext cx="10149840" cy="1008126"/>
          </a:xfrm>
          <a:prstGeom prst="rect">
            <a:avLst/>
          </a:prstGeom>
          <a:noFill/>
        </p:spPr>
        <p:txBody>
          <a:bodyPr wrap="square">
            <a:spAutoFit/>
          </a:bodyPr>
          <a:lstStyle/>
          <a:p>
            <a:pPr>
              <a:defRPr sz="1700" b="1">
                <a:solidFill>
                  <a:srgbClr val="1E3A8A"/>
                </a:solidFill>
                <a:latin typeface="Arial"/>
              </a:defRPr>
            </a:pPr>
            <a:r>
              <a:t>Dual-Predicate Filter</a:t>
            </a:r>
          </a:p>
          <a:p>
            <a:pPr>
              <a:spcBef>
                <a:spcPts val="300"/>
              </a:spcBef>
              <a:defRPr sz="1400">
                <a:solidFill>
                  <a:srgbClr val="0F172A"/>
                </a:solidFill>
                <a:latin typeface="Arial"/>
              </a:defRPr>
            </a:pPr>
            <a:r>
              <a:t>Evaluates both category matching ('All' or exact match) and search query inclusion (case-insensitive) simultaneously.</a:t>
            </a:r>
          </a:p>
        </p:txBody>
      </p:sp>
      <p:sp>
        <p:nvSpPr>
          <p:cNvPr id="9" name="Rounded Rectangle 8"/>
          <p:cNvSpPr/>
          <p:nvPr/>
        </p:nvSpPr>
        <p:spPr>
          <a:xfrm>
            <a:off x="731520" y="4000500"/>
            <a:ext cx="10728655" cy="115443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073652"/>
            <a:ext cx="10149840" cy="1008126"/>
          </a:xfrm>
          <a:prstGeom prst="rect">
            <a:avLst/>
          </a:prstGeom>
          <a:noFill/>
        </p:spPr>
        <p:txBody>
          <a:bodyPr wrap="square">
            <a:spAutoFit/>
          </a:bodyPr>
          <a:lstStyle/>
          <a:p>
            <a:pPr>
              <a:defRPr sz="1700" b="1">
                <a:solidFill>
                  <a:srgbClr val="1E3A8A"/>
                </a:solidFill>
                <a:latin typeface="Arial"/>
              </a:defRPr>
            </a:pPr>
            <a:r>
              <a:t>Instant Reactivity</a:t>
            </a:r>
          </a:p>
          <a:p>
            <a:pPr>
              <a:spcBef>
                <a:spcPts val="300"/>
              </a:spcBef>
              <a:defRPr sz="1400">
                <a:solidFill>
                  <a:srgbClr val="0F172A"/>
                </a:solidFill>
                <a:latin typeface="Arial"/>
              </a:defRPr>
            </a:pPr>
            <a:r>
              <a:t>Every keystroke or category click recalculates filteredClubs instantly with zero page reloads.</a:t>
            </a:r>
          </a:p>
        </p:txBody>
      </p:sp>
      <p:sp>
        <p:nvSpPr>
          <p:cNvPr id="11" name="Rounded Rectangle 10"/>
          <p:cNvSpPr/>
          <p:nvPr/>
        </p:nvSpPr>
        <p:spPr>
          <a:xfrm>
            <a:off x="731520" y="5292090"/>
            <a:ext cx="10728655" cy="115443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365242"/>
            <a:ext cx="10149840" cy="1008126"/>
          </a:xfrm>
          <a:prstGeom prst="rect">
            <a:avLst/>
          </a:prstGeom>
          <a:noFill/>
        </p:spPr>
        <p:txBody>
          <a:bodyPr wrap="square">
            <a:spAutoFit/>
          </a:bodyPr>
          <a:lstStyle/>
          <a:p>
            <a:pPr>
              <a:defRPr sz="1700" b="1">
                <a:solidFill>
                  <a:srgbClr val="1E3A8A"/>
                </a:solidFill>
                <a:latin typeface="Arial"/>
              </a:defRPr>
            </a:pPr>
            <a:r>
              <a:t>User Convenience</a:t>
            </a:r>
          </a:p>
          <a:p>
            <a:pPr>
              <a:spcBef>
                <a:spcPts val="300"/>
              </a:spcBef>
              <a:defRPr sz="1400">
                <a:solidFill>
                  <a:srgbClr val="0F172A"/>
                </a:solidFill>
                <a:latin typeface="Arial"/>
              </a:defRPr>
            </a:pPr>
            <a:r>
              <a:t>Includes a dedicated 'Clear' button in the search bar and a 'Reset All Filters' button on empty results.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728655" cy="731520"/>
          </a:xfrm>
          <a:prstGeom prst="rect">
            <a:avLst/>
          </a:prstGeom>
          <a:noFill/>
        </p:spPr>
        <p:txBody>
          <a:bodyPr wrap="square">
            <a:spAutoFit/>
          </a:bodyPr>
          <a:lstStyle/>
          <a:p>
            <a:pPr>
              <a:defRPr sz="3000" b="1">
                <a:solidFill>
                  <a:srgbClr val="FFFFFF"/>
                </a:solidFill>
                <a:latin typeface="Arial"/>
              </a:defRPr>
            </a:pPr>
            <a:r>
              <a:t>React Concept 4: Conditional Rendering</a:t>
            </a:r>
          </a:p>
        </p:txBody>
      </p:sp>
      <p:sp>
        <p:nvSpPr>
          <p:cNvPr id="5" name="Rounded Rectangle 4"/>
          <p:cNvSpPr/>
          <p:nvPr/>
        </p:nvSpPr>
        <p:spPr>
          <a:xfrm>
            <a:off x="731520" y="1417320"/>
            <a:ext cx="10728655" cy="115443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490472"/>
            <a:ext cx="10149840" cy="1008126"/>
          </a:xfrm>
          <a:prstGeom prst="rect">
            <a:avLst/>
          </a:prstGeom>
          <a:noFill/>
        </p:spPr>
        <p:txBody>
          <a:bodyPr wrap="square">
            <a:spAutoFit/>
          </a:bodyPr>
          <a:lstStyle/>
          <a:p>
            <a:pPr>
              <a:defRPr sz="1700" b="1">
                <a:solidFill>
                  <a:srgbClr val="1E3A8A"/>
                </a:solidFill>
                <a:latin typeface="Arial"/>
              </a:defRPr>
            </a:pPr>
            <a:r>
              <a:t>Empty State vs Grid</a:t>
            </a:r>
          </a:p>
          <a:p>
            <a:pPr>
              <a:spcBef>
                <a:spcPts val="300"/>
              </a:spcBef>
              <a:defRPr sz="1400">
                <a:solidFill>
                  <a:srgbClr val="0F172A"/>
                </a:solidFill>
                <a:latin typeface="Arial"/>
              </a:defRPr>
            </a:pPr>
            <a:r>
              <a:t>Ternary operator renders the club grid when filteredClubs.length &gt; 0; otherwise renders the friendly 'No clubs found' box.</a:t>
            </a:r>
          </a:p>
        </p:txBody>
      </p:sp>
      <p:sp>
        <p:nvSpPr>
          <p:cNvPr id="7" name="Rounded Rectangle 6"/>
          <p:cNvSpPr/>
          <p:nvPr/>
        </p:nvSpPr>
        <p:spPr>
          <a:xfrm>
            <a:off x="731520" y="2708910"/>
            <a:ext cx="10728655" cy="115443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782062"/>
            <a:ext cx="10149840" cy="1008126"/>
          </a:xfrm>
          <a:prstGeom prst="rect">
            <a:avLst/>
          </a:prstGeom>
          <a:noFill/>
        </p:spPr>
        <p:txBody>
          <a:bodyPr wrap="square">
            <a:spAutoFit/>
          </a:bodyPr>
          <a:lstStyle/>
          <a:p>
            <a:pPr>
              <a:defRPr sz="1700" b="1">
                <a:solidFill>
                  <a:srgbClr val="1E3A8A"/>
                </a:solidFill>
                <a:latin typeface="Arial"/>
              </a:defRPr>
            </a:pPr>
            <a:r>
              <a:t>Details Modal Dialog</a:t>
            </a:r>
          </a:p>
          <a:p>
            <a:pPr>
              <a:spcBef>
                <a:spcPts val="300"/>
              </a:spcBef>
              <a:defRPr sz="1400">
                <a:solidFill>
                  <a:srgbClr val="0F172A"/>
                </a:solidFill>
                <a:latin typeface="Arial"/>
              </a:defRPr>
            </a:pPr>
            <a:r>
              <a:t>Short-circuit evaluation {selectedClub &amp;&amp; &lt;ClubModal ... /&gt;} mounts modal only when a user selects a club.</a:t>
            </a:r>
          </a:p>
        </p:txBody>
      </p:sp>
      <p:sp>
        <p:nvSpPr>
          <p:cNvPr id="9" name="Rounded Rectangle 8"/>
          <p:cNvSpPr/>
          <p:nvPr/>
        </p:nvSpPr>
        <p:spPr>
          <a:xfrm>
            <a:off x="731520" y="4000500"/>
            <a:ext cx="10728655" cy="115443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073652"/>
            <a:ext cx="10149840" cy="1008126"/>
          </a:xfrm>
          <a:prstGeom prst="rect">
            <a:avLst/>
          </a:prstGeom>
          <a:noFill/>
        </p:spPr>
        <p:txBody>
          <a:bodyPr wrap="square">
            <a:spAutoFit/>
          </a:bodyPr>
          <a:lstStyle/>
          <a:p>
            <a:pPr>
              <a:defRPr sz="1700" b="1">
                <a:solidFill>
                  <a:srgbClr val="1E3A8A"/>
                </a:solidFill>
                <a:latin typeface="Arial"/>
              </a:defRPr>
            </a:pPr>
            <a:r>
              <a:t>Persistent Membership Badges</a:t>
            </a:r>
          </a:p>
          <a:p>
            <a:pPr>
              <a:spcBef>
                <a:spcPts val="300"/>
              </a:spcBef>
              <a:defRPr sz="1400">
                <a:solidFill>
                  <a:srgbClr val="0F172A"/>
                </a:solidFill>
                <a:latin typeface="Arial"/>
              </a:defRPr>
            </a:pPr>
            <a:r>
              <a:t>Conditionally displays the green 'JOINED' badge on cards for clubs whose ID is in joinedClubIds.</a:t>
            </a:r>
          </a:p>
        </p:txBody>
      </p:sp>
      <p:sp>
        <p:nvSpPr>
          <p:cNvPr id="11" name="Rounded Rectangle 10"/>
          <p:cNvSpPr/>
          <p:nvPr/>
        </p:nvSpPr>
        <p:spPr>
          <a:xfrm>
            <a:off x="731520" y="5292090"/>
            <a:ext cx="10728655" cy="115443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365242"/>
            <a:ext cx="10149840" cy="1008126"/>
          </a:xfrm>
          <a:prstGeom prst="rect">
            <a:avLst/>
          </a:prstGeom>
          <a:noFill/>
        </p:spPr>
        <p:txBody>
          <a:bodyPr wrap="square">
            <a:spAutoFit/>
          </a:bodyPr>
          <a:lstStyle/>
          <a:p>
            <a:pPr>
              <a:defRPr sz="1700" b="1">
                <a:solidFill>
                  <a:srgbClr val="1E3A8A"/>
                </a:solidFill>
                <a:latin typeface="Arial"/>
              </a:defRPr>
            </a:pPr>
            <a:r>
              <a:t>Real-Time Toast Alerts</a:t>
            </a:r>
          </a:p>
          <a:p>
            <a:pPr>
              <a:spcBef>
                <a:spcPts val="300"/>
              </a:spcBef>
              <a:defRPr sz="1400">
                <a:solidFill>
                  <a:srgbClr val="0F172A"/>
                </a:solidFill>
                <a:latin typeface="Arial"/>
              </a:defRPr>
            </a:pPr>
            <a:r>
              <a:t>Conditionally renders popup notifications for 3 seconds when joining or leaving a club.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728655" cy="731520"/>
          </a:xfrm>
          <a:prstGeom prst="rect">
            <a:avLst/>
          </a:prstGeom>
          <a:noFill/>
        </p:spPr>
        <p:txBody>
          <a:bodyPr wrap="square">
            <a:spAutoFit/>
          </a:bodyPr>
          <a:lstStyle/>
          <a:p>
            <a:pPr>
              <a:defRPr sz="3000" b="1">
                <a:solidFill>
                  <a:srgbClr val="FFFFFF"/>
                </a:solidFill>
                <a:latin typeface="Arial"/>
              </a:defRPr>
            </a:pPr>
            <a:r>
              <a:t>User Interface &amp; Design System</a:t>
            </a:r>
          </a:p>
        </p:txBody>
      </p:sp>
      <p:sp>
        <p:nvSpPr>
          <p:cNvPr id="5" name="Rounded Rectangle 4"/>
          <p:cNvSpPr/>
          <p:nvPr/>
        </p:nvSpPr>
        <p:spPr>
          <a:xfrm>
            <a:off x="731520" y="1417320"/>
            <a:ext cx="10728655" cy="115443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490472"/>
            <a:ext cx="10149840" cy="1008126"/>
          </a:xfrm>
          <a:prstGeom prst="rect">
            <a:avLst/>
          </a:prstGeom>
          <a:noFill/>
        </p:spPr>
        <p:txBody>
          <a:bodyPr wrap="square">
            <a:spAutoFit/>
          </a:bodyPr>
          <a:lstStyle/>
          <a:p>
            <a:pPr>
              <a:defRPr sz="1700" b="1">
                <a:solidFill>
                  <a:srgbClr val="1E3A8A"/>
                </a:solidFill>
                <a:latin typeface="Arial"/>
              </a:defRPr>
            </a:pPr>
            <a:r>
              <a:t>Solid Color Palette</a:t>
            </a:r>
          </a:p>
          <a:p>
            <a:pPr>
              <a:spcBef>
                <a:spcPts val="300"/>
              </a:spcBef>
              <a:defRPr sz="1400">
                <a:solidFill>
                  <a:srgbClr val="0F172A"/>
                </a:solidFill>
                <a:latin typeface="Arial"/>
              </a:defRPr>
            </a:pPr>
            <a:r>
              <a:t>University navy blue header (#1e3a8a), crisp slate text (#0f172a), and clean light background (#f8fafc).</a:t>
            </a:r>
          </a:p>
        </p:txBody>
      </p:sp>
      <p:sp>
        <p:nvSpPr>
          <p:cNvPr id="7" name="Rounded Rectangle 6"/>
          <p:cNvSpPr/>
          <p:nvPr/>
        </p:nvSpPr>
        <p:spPr>
          <a:xfrm>
            <a:off x="731520" y="2708910"/>
            <a:ext cx="10728655" cy="115443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782062"/>
            <a:ext cx="10149840" cy="1008126"/>
          </a:xfrm>
          <a:prstGeom prst="rect">
            <a:avLst/>
          </a:prstGeom>
          <a:noFill/>
        </p:spPr>
        <p:txBody>
          <a:bodyPr wrap="square">
            <a:spAutoFit/>
          </a:bodyPr>
          <a:lstStyle/>
          <a:p>
            <a:pPr>
              <a:defRPr sz="1700" b="1">
                <a:solidFill>
                  <a:srgbClr val="1E3A8A"/>
                </a:solidFill>
                <a:latin typeface="Arial"/>
              </a:defRPr>
            </a:pPr>
            <a:r>
              <a:t>Category Color Coding</a:t>
            </a:r>
          </a:p>
          <a:p>
            <a:pPr>
              <a:spcBef>
                <a:spcPts val="300"/>
              </a:spcBef>
              <a:defRPr sz="1400">
                <a:solidFill>
                  <a:srgbClr val="0F172A"/>
                </a:solidFill>
                <a:latin typeface="Arial"/>
              </a:defRPr>
            </a:pPr>
            <a:r>
              <a:t>Violet for Coding, Emerald for Sports, Rose for Arts, and Amber for Entrepreneurship.</a:t>
            </a:r>
          </a:p>
        </p:txBody>
      </p:sp>
      <p:sp>
        <p:nvSpPr>
          <p:cNvPr id="9" name="Rounded Rectangle 8"/>
          <p:cNvSpPr/>
          <p:nvPr/>
        </p:nvSpPr>
        <p:spPr>
          <a:xfrm>
            <a:off x="731520" y="4000500"/>
            <a:ext cx="10728655" cy="115443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073652"/>
            <a:ext cx="10149840" cy="1008126"/>
          </a:xfrm>
          <a:prstGeom prst="rect">
            <a:avLst/>
          </a:prstGeom>
          <a:noFill/>
        </p:spPr>
        <p:txBody>
          <a:bodyPr wrap="square">
            <a:spAutoFit/>
          </a:bodyPr>
          <a:lstStyle/>
          <a:p>
            <a:pPr>
              <a:defRPr sz="1700" b="1">
                <a:solidFill>
                  <a:srgbClr val="1E3A8A"/>
                </a:solidFill>
                <a:latin typeface="Arial"/>
              </a:defRPr>
            </a:pPr>
            <a:r>
              <a:t>Micro-Interactions</a:t>
            </a:r>
          </a:p>
          <a:p>
            <a:pPr>
              <a:spcBef>
                <a:spcPts val="300"/>
              </a:spcBef>
              <a:defRPr sz="1400">
                <a:solidFill>
                  <a:srgbClr val="0F172A"/>
                </a:solidFill>
                <a:latin typeface="Arial"/>
              </a:defRPr>
            </a:pPr>
            <a:r>
              <a:t>Smooth card hover elevation (translateY(-4px)) and subtle backdrop blur on the modal overlay.</a:t>
            </a:r>
          </a:p>
        </p:txBody>
      </p:sp>
      <p:sp>
        <p:nvSpPr>
          <p:cNvPr id="11" name="Rounded Rectangle 10"/>
          <p:cNvSpPr/>
          <p:nvPr/>
        </p:nvSpPr>
        <p:spPr>
          <a:xfrm>
            <a:off x="731520" y="5292090"/>
            <a:ext cx="10728655" cy="115443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365242"/>
            <a:ext cx="10149840" cy="1008126"/>
          </a:xfrm>
          <a:prstGeom prst="rect">
            <a:avLst/>
          </a:prstGeom>
          <a:noFill/>
        </p:spPr>
        <p:txBody>
          <a:bodyPr wrap="square">
            <a:spAutoFit/>
          </a:bodyPr>
          <a:lstStyle/>
          <a:p>
            <a:pPr>
              <a:defRPr sz="1700" b="1">
                <a:solidFill>
                  <a:srgbClr val="1E3A8A"/>
                </a:solidFill>
                <a:latin typeface="Arial"/>
              </a:defRPr>
            </a:pPr>
            <a:r>
              <a:t>Responsive Grid Architecture</a:t>
            </a:r>
          </a:p>
          <a:p>
            <a:pPr>
              <a:spcBef>
                <a:spcPts val="300"/>
              </a:spcBef>
              <a:defRPr sz="1400">
                <a:solidFill>
                  <a:srgbClr val="0F172A"/>
                </a:solidFill>
                <a:latin typeface="Arial"/>
              </a:defRPr>
            </a:pPr>
            <a:r>
              <a:t>CSS Grid with repeat(auto-fill, minmax(290px, 1fr)) adapting seamlessly across mobile, tablet, and desktop.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728655" cy="731520"/>
          </a:xfrm>
          <a:prstGeom prst="rect">
            <a:avLst/>
          </a:prstGeom>
          <a:noFill/>
        </p:spPr>
        <p:txBody>
          <a:bodyPr wrap="square">
            <a:spAutoFit/>
          </a:bodyPr>
          <a:lstStyle/>
          <a:p>
            <a:pPr>
              <a:defRPr sz="3000" b="1">
                <a:solidFill>
                  <a:srgbClr val="FFFFFF"/>
                </a:solidFill>
                <a:latin typeface="Arial"/>
              </a:defRPr>
            </a:pPr>
            <a:r>
              <a:t>Testing &amp; Functional Verification</a:t>
            </a:r>
          </a:p>
        </p:txBody>
      </p:sp>
      <p:sp>
        <p:nvSpPr>
          <p:cNvPr id="5" name="Rounded Rectangle 4"/>
          <p:cNvSpPr/>
          <p:nvPr/>
        </p:nvSpPr>
        <p:spPr>
          <a:xfrm>
            <a:off x="731520" y="1417320"/>
            <a:ext cx="10728655" cy="896112"/>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490472"/>
            <a:ext cx="10149840" cy="749808"/>
          </a:xfrm>
          <a:prstGeom prst="rect">
            <a:avLst/>
          </a:prstGeom>
          <a:noFill/>
        </p:spPr>
        <p:txBody>
          <a:bodyPr wrap="square">
            <a:spAutoFit/>
          </a:bodyPr>
          <a:lstStyle/>
          <a:p>
            <a:pPr>
              <a:defRPr sz="1700" b="1">
                <a:solidFill>
                  <a:srgbClr val="1E3A8A"/>
                </a:solidFill>
                <a:latin typeface="Arial"/>
              </a:defRPr>
            </a:pPr>
            <a:r>
              <a:t>TC-01: Page Load</a:t>
            </a:r>
          </a:p>
          <a:p>
            <a:pPr>
              <a:spcBef>
                <a:spcPts val="300"/>
              </a:spcBef>
              <a:defRPr sz="1400">
                <a:solidFill>
                  <a:srgbClr val="0F172A"/>
                </a:solidFill>
                <a:latin typeface="Arial"/>
              </a:defRPr>
            </a:pPr>
            <a:r>
              <a:t>All 8 clubs across 4 categories render with active 'All' filter. (PASS)</a:t>
            </a:r>
          </a:p>
        </p:txBody>
      </p:sp>
      <p:sp>
        <p:nvSpPr>
          <p:cNvPr id="7" name="Rounded Rectangle 6"/>
          <p:cNvSpPr/>
          <p:nvPr/>
        </p:nvSpPr>
        <p:spPr>
          <a:xfrm>
            <a:off x="731520" y="2450592"/>
            <a:ext cx="10728655" cy="896112"/>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523744"/>
            <a:ext cx="10149840" cy="749808"/>
          </a:xfrm>
          <a:prstGeom prst="rect">
            <a:avLst/>
          </a:prstGeom>
          <a:noFill/>
        </p:spPr>
        <p:txBody>
          <a:bodyPr wrap="square">
            <a:spAutoFit/>
          </a:bodyPr>
          <a:lstStyle/>
          <a:p>
            <a:pPr>
              <a:defRPr sz="1700" b="1">
                <a:solidFill>
                  <a:srgbClr val="1E3A8A"/>
                </a:solidFill>
                <a:latin typeface="Arial"/>
              </a:defRPr>
            </a:pPr>
            <a:r>
              <a:t>TC-02: Category Filtering</a:t>
            </a:r>
          </a:p>
          <a:p>
            <a:pPr>
              <a:spcBef>
                <a:spcPts val="300"/>
              </a:spcBef>
              <a:defRPr sz="1400">
                <a:solidFill>
                  <a:srgbClr val="0F172A"/>
                </a:solidFill>
                <a:latin typeface="Arial"/>
              </a:defRPr>
            </a:pPr>
            <a:r>
              <a:t>Clicking 'Sports' narrows list to Strikers Club and Badminton League. (PASS)</a:t>
            </a:r>
          </a:p>
        </p:txBody>
      </p:sp>
      <p:sp>
        <p:nvSpPr>
          <p:cNvPr id="9" name="Rounded Rectangle 8"/>
          <p:cNvSpPr/>
          <p:nvPr/>
        </p:nvSpPr>
        <p:spPr>
          <a:xfrm>
            <a:off x="731520" y="3483864"/>
            <a:ext cx="10728655" cy="896112"/>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557016"/>
            <a:ext cx="10149840" cy="749808"/>
          </a:xfrm>
          <a:prstGeom prst="rect">
            <a:avLst/>
          </a:prstGeom>
          <a:noFill/>
        </p:spPr>
        <p:txBody>
          <a:bodyPr wrap="square">
            <a:spAutoFit/>
          </a:bodyPr>
          <a:lstStyle/>
          <a:p>
            <a:pPr>
              <a:defRPr sz="1700" b="1">
                <a:solidFill>
                  <a:srgbClr val="1E3A8A"/>
                </a:solidFill>
                <a:latin typeface="Arial"/>
              </a:defRPr>
            </a:pPr>
            <a:r>
              <a:t>TC-03: Keyword Search</a:t>
            </a:r>
          </a:p>
          <a:p>
            <a:pPr>
              <a:spcBef>
                <a:spcPts val="300"/>
              </a:spcBef>
              <a:defRPr sz="1400">
                <a:solidFill>
                  <a:srgbClr val="0F172A"/>
                </a:solidFill>
                <a:latin typeface="Arial"/>
              </a:defRPr>
            </a:pPr>
            <a:r>
              <a:t>Typing 'robotics' instantly isolates the AI &amp; Robotics Club. (PASS)</a:t>
            </a:r>
          </a:p>
        </p:txBody>
      </p:sp>
      <p:sp>
        <p:nvSpPr>
          <p:cNvPr id="11" name="Rounded Rectangle 10"/>
          <p:cNvSpPr/>
          <p:nvPr/>
        </p:nvSpPr>
        <p:spPr>
          <a:xfrm>
            <a:off x="731520" y="4517136"/>
            <a:ext cx="10728655" cy="896112"/>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590288"/>
            <a:ext cx="10149840" cy="749808"/>
          </a:xfrm>
          <a:prstGeom prst="rect">
            <a:avLst/>
          </a:prstGeom>
          <a:noFill/>
        </p:spPr>
        <p:txBody>
          <a:bodyPr wrap="square">
            <a:spAutoFit/>
          </a:bodyPr>
          <a:lstStyle/>
          <a:p>
            <a:pPr>
              <a:defRPr sz="1700" b="1">
                <a:solidFill>
                  <a:srgbClr val="1E3A8A"/>
                </a:solidFill>
                <a:latin typeface="Arial"/>
              </a:defRPr>
            </a:pPr>
            <a:r>
              <a:t>TC-04: Modal Interaction</a:t>
            </a:r>
          </a:p>
          <a:p>
            <a:pPr>
              <a:spcBef>
                <a:spcPts val="300"/>
              </a:spcBef>
              <a:defRPr sz="1400">
                <a:solidFill>
                  <a:srgbClr val="0F172A"/>
                </a:solidFill>
                <a:latin typeface="Arial"/>
              </a:defRPr>
            </a:pPr>
            <a:r>
              <a:t>Clicking 'View Details' displays advisor, meeting times, and activities. (PASS)</a:t>
            </a:r>
          </a:p>
        </p:txBody>
      </p:sp>
      <p:sp>
        <p:nvSpPr>
          <p:cNvPr id="13" name="Rounded Rectangle 12"/>
          <p:cNvSpPr/>
          <p:nvPr/>
        </p:nvSpPr>
        <p:spPr>
          <a:xfrm>
            <a:off x="731520" y="5550408"/>
            <a:ext cx="10728655" cy="896112"/>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623560"/>
            <a:ext cx="10149840" cy="749808"/>
          </a:xfrm>
          <a:prstGeom prst="rect">
            <a:avLst/>
          </a:prstGeom>
          <a:noFill/>
        </p:spPr>
        <p:txBody>
          <a:bodyPr wrap="square">
            <a:spAutoFit/>
          </a:bodyPr>
          <a:lstStyle/>
          <a:p>
            <a:pPr>
              <a:defRPr sz="1700" b="1">
                <a:solidFill>
                  <a:srgbClr val="1E3A8A"/>
                </a:solidFill>
                <a:latin typeface="Arial"/>
              </a:defRPr>
            </a:pPr>
            <a:r>
              <a:t>TC-05: Join Club &amp; Toast</a:t>
            </a:r>
          </a:p>
          <a:p>
            <a:pPr>
              <a:spcBef>
                <a:spcPts val="300"/>
              </a:spcBef>
              <a:defRPr sz="1400">
                <a:solidFill>
                  <a:srgbClr val="0F172A"/>
                </a:solidFill>
                <a:latin typeface="Arial"/>
              </a:defRPr>
            </a:pPr>
            <a:r>
              <a:t>Clicking 'Join Club' increments members, displays green popup alert, and adds 'JOINED' badge. (PASS)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728655" cy="731520"/>
          </a:xfrm>
          <a:prstGeom prst="rect">
            <a:avLst/>
          </a:prstGeom>
          <a:noFill/>
        </p:spPr>
        <p:txBody>
          <a:bodyPr wrap="square">
            <a:spAutoFit/>
          </a:bodyPr>
          <a:lstStyle/>
          <a:p>
            <a:pPr>
              <a:defRPr sz="3000" b="1">
                <a:solidFill>
                  <a:srgbClr val="FFFFFF"/>
                </a:solidFill>
                <a:latin typeface="Arial"/>
              </a:defRPr>
            </a:pPr>
            <a:r>
              <a:t>Conclusion &amp; Key Takeaways</a:t>
            </a:r>
          </a:p>
        </p:txBody>
      </p:sp>
      <p:sp>
        <p:nvSpPr>
          <p:cNvPr id="5" name="Rounded Rectangle 4"/>
          <p:cNvSpPr/>
          <p:nvPr/>
        </p:nvSpPr>
        <p:spPr>
          <a:xfrm>
            <a:off x="731520" y="1417320"/>
            <a:ext cx="10728655" cy="115443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490472"/>
            <a:ext cx="10149840" cy="1008126"/>
          </a:xfrm>
          <a:prstGeom prst="rect">
            <a:avLst/>
          </a:prstGeom>
          <a:noFill/>
        </p:spPr>
        <p:txBody>
          <a:bodyPr wrap="square">
            <a:spAutoFit/>
          </a:bodyPr>
          <a:lstStyle/>
          <a:p>
            <a:pPr>
              <a:defRPr sz="1700" b="1">
                <a:solidFill>
                  <a:srgbClr val="1E3A8A"/>
                </a:solidFill>
                <a:latin typeface="Arial"/>
              </a:defRPr>
            </a:pPr>
            <a:r>
              <a:t>Complete Syllabus Coverage</a:t>
            </a:r>
          </a:p>
          <a:p>
            <a:pPr>
              <a:spcBef>
                <a:spcPts val="300"/>
              </a:spcBef>
              <a:defRPr sz="1400">
                <a:solidFill>
                  <a:srgbClr val="0F172A"/>
                </a:solidFill>
                <a:latin typeface="Arial"/>
              </a:defRPr>
            </a:pPr>
            <a:r>
              <a:t>Props, Lists &amp; Keys, Search/Filter UI, Conditional Rendering, and Component Reuse fully implemented.</a:t>
            </a:r>
          </a:p>
        </p:txBody>
      </p:sp>
      <p:sp>
        <p:nvSpPr>
          <p:cNvPr id="7" name="Rounded Rectangle 6"/>
          <p:cNvSpPr/>
          <p:nvPr/>
        </p:nvSpPr>
        <p:spPr>
          <a:xfrm>
            <a:off x="731520" y="2708910"/>
            <a:ext cx="10728655" cy="115443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782062"/>
            <a:ext cx="10149840" cy="1008126"/>
          </a:xfrm>
          <a:prstGeom prst="rect">
            <a:avLst/>
          </a:prstGeom>
          <a:noFill/>
        </p:spPr>
        <p:txBody>
          <a:bodyPr wrap="square">
            <a:spAutoFit/>
          </a:bodyPr>
          <a:lstStyle/>
          <a:p>
            <a:pPr>
              <a:defRPr sz="1700" b="1">
                <a:solidFill>
                  <a:srgbClr val="1E3A8A"/>
                </a:solidFill>
                <a:latin typeface="Arial"/>
              </a:defRPr>
            </a:pPr>
            <a:r>
              <a:t>Zero Errors &amp; High Performance</a:t>
            </a:r>
          </a:p>
          <a:p>
            <a:pPr>
              <a:spcBef>
                <a:spcPts val="300"/>
              </a:spcBef>
              <a:defRPr sz="1400">
                <a:solidFill>
                  <a:srgbClr val="0F172A"/>
                </a:solidFill>
                <a:latin typeface="Arial"/>
              </a:defRPr>
            </a:pPr>
            <a:r>
              <a:t>Codebase builds cleanly with 0 build errors in under 500ms via Vite.</a:t>
            </a:r>
          </a:p>
        </p:txBody>
      </p:sp>
      <p:sp>
        <p:nvSpPr>
          <p:cNvPr id="9" name="Rounded Rectangle 8"/>
          <p:cNvSpPr/>
          <p:nvPr/>
        </p:nvSpPr>
        <p:spPr>
          <a:xfrm>
            <a:off x="731520" y="4000500"/>
            <a:ext cx="10728655" cy="115443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073652"/>
            <a:ext cx="10149840" cy="1008126"/>
          </a:xfrm>
          <a:prstGeom prst="rect">
            <a:avLst/>
          </a:prstGeom>
          <a:noFill/>
        </p:spPr>
        <p:txBody>
          <a:bodyPr wrap="square">
            <a:spAutoFit/>
          </a:bodyPr>
          <a:lstStyle/>
          <a:p>
            <a:pPr>
              <a:defRPr sz="1700" b="1">
                <a:solidFill>
                  <a:srgbClr val="1E3A8A"/>
                </a:solidFill>
                <a:latin typeface="Arial"/>
              </a:defRPr>
            </a:pPr>
            <a:r>
              <a:t>Practical Campus Utility</a:t>
            </a:r>
          </a:p>
          <a:p>
            <a:pPr>
              <a:spcBef>
                <a:spcPts val="300"/>
              </a:spcBef>
              <a:defRPr sz="1400">
                <a:solidFill>
                  <a:srgbClr val="0F172A"/>
                </a:solidFill>
                <a:latin typeface="Arial"/>
              </a:defRPr>
            </a:pPr>
            <a:r>
              <a:t>Provides an intuitive, attractive, and accessible portal for university students.</a:t>
            </a:r>
          </a:p>
        </p:txBody>
      </p:sp>
      <p:sp>
        <p:nvSpPr>
          <p:cNvPr id="11" name="Rounded Rectangle 10"/>
          <p:cNvSpPr/>
          <p:nvPr/>
        </p:nvSpPr>
        <p:spPr>
          <a:xfrm>
            <a:off x="731520" y="5292090"/>
            <a:ext cx="10728655" cy="115443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365242"/>
            <a:ext cx="10149840" cy="1008126"/>
          </a:xfrm>
          <a:prstGeom prst="rect">
            <a:avLst/>
          </a:prstGeom>
          <a:noFill/>
        </p:spPr>
        <p:txBody>
          <a:bodyPr wrap="square">
            <a:spAutoFit/>
          </a:bodyPr>
          <a:lstStyle/>
          <a:p>
            <a:pPr>
              <a:defRPr sz="1700" b="1">
                <a:solidFill>
                  <a:srgbClr val="1E3A8A"/>
                </a:solidFill>
                <a:latin typeface="Arial"/>
              </a:defRPr>
            </a:pPr>
            <a:r>
              <a:t>Thank You!</a:t>
            </a:r>
          </a:p>
          <a:p>
            <a:pPr>
              <a:spcBef>
                <a:spcPts val="300"/>
              </a:spcBef>
              <a:defRPr sz="1400">
                <a:solidFill>
                  <a:srgbClr val="0F172A"/>
                </a:solidFill>
                <a:latin typeface="Arial"/>
              </a:defRPr>
            </a:pPr>
            <a:r>
              <a:t>Open to questions and viva evaluation from faculty members.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